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ILCEC 2027 First Announcement – FRONT page (draft).
Replace every red [bracketed] item. Photos are Photo Korea preview files (low resolution, watermarked): right-click each photo → Change Picture and pick the original download before printing. Credits are in the footer. Delete the red DRAFT tag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ILCEC 2027 First Announcement – BACK page (draft). Committee lists, webpage, venue details and topics. Same editing rules as the front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FRONT-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BACK-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RO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type="pic" idx="100" hasCustomPrompt="1"/>
          </p:nvPr>
        </p:nvSpPr>
        <p:spPr>
          <a:xfrm>
            <a:off x="429768" y="393192"/>
            <a:ext cx="6702552" cy="1737360"/>
          </a:xfrm>
          <a:prstGeom prst="rect">
            <a:avLst/>
          </a:prstGeom>
          <a:noFill/>
          <a:ln/>
        </p:spPr>
        <p:txBody>
          <a:bodyPr wrap="square" rtlCol="0"/>
          <a:lstStyle>
            <a:lvl1pPr indent="0" marL="0">
              <a:buNone/>
              <a:defRPr lang="en-US" dirty="0"/>
            </a:lvl1pPr>
          </a:lstStyle>
          <a:p>
            <a:pPr indent="0" marL="0">
              <a:buNone/>
            </a:pPr>
            <a:endParaRPr lang="en-US" dirty="0"/>
          </a:p>
        </p:txBody>
      </p:sp>
      <p:sp>
        <p:nvSpPr>
          <p:cNvPr id="3" name="Text 0"/>
          <p:cNvSpPr/>
          <p:nvPr>
            <p:ph type="pic" idx="101" hasCustomPrompt="1"/>
          </p:nvPr>
        </p:nvSpPr>
        <p:spPr>
          <a:xfrm>
            <a:off x="429768" y="6967728"/>
            <a:ext cx="3218688" cy="1170432"/>
          </a:xfrm>
          <a:prstGeom prst="rect">
            <a:avLst/>
          </a:prstGeom>
          <a:noFill/>
          <a:ln/>
        </p:spPr>
        <p:txBody>
          <a:bodyPr wrap="square" rtlCol="0"/>
          <a:lstStyle>
            <a:lvl1pPr indent="0" marL="0">
              <a:buNone/>
              <a:defRPr lang="en-US" dirty="0"/>
            </a:lvl1pPr>
          </a:lstStyle>
          <a:p>
            <a:pPr indent="0" marL="0">
              <a:buNone/>
            </a:pPr>
            <a:endParaRPr lang="en-US" dirty="0"/>
          </a:p>
        </p:txBody>
      </p:sp>
      <p:sp>
        <p:nvSpPr>
          <p:cNvPr id="4" name="Text 0"/>
          <p:cNvSpPr/>
          <p:nvPr>
            <p:ph type="pic" idx="102" hasCustomPrompt="1"/>
          </p:nvPr>
        </p:nvSpPr>
        <p:spPr>
          <a:xfrm>
            <a:off x="429768" y="8211312"/>
            <a:ext cx="3218688" cy="877824"/>
          </a:xfrm>
          <a:prstGeom prst="rect">
            <a:avLst/>
          </a:prstGeom>
          <a:noFill/>
          <a:ln/>
        </p:spPr>
        <p:txBody>
          <a:bodyPr wrap="square" rtlCol="0"/>
          <a:lstStyle>
            <a:lvl1pPr indent="0" marL="0">
              <a:buNone/>
              <a:defRPr lang="en-US" dirty="0"/>
            </a:lvl1pPr>
          </a:lstStyle>
          <a:p>
            <a:pPr indent="0" marL="0">
              <a:buNone/>
            </a:pPr>
            <a:endParaRPr lang="en-US" dirty="0"/>
          </a:p>
        </p:txBody>
      </p:sp>
      <p:sp>
        <p:nvSpPr>
          <p:cNvPr id="5" name="Text 0"/>
          <p:cNvSpPr/>
          <p:nvPr>
            <p:ph type="pic" idx="103" hasCustomPrompt="1"/>
          </p:nvPr>
        </p:nvSpPr>
        <p:spPr>
          <a:xfrm>
            <a:off x="3913632" y="8394192"/>
            <a:ext cx="1563624" cy="694944"/>
          </a:xfrm>
          <a:prstGeom prst="rect">
            <a:avLst/>
          </a:prstGeom>
          <a:noFill/>
          <a:ln/>
        </p:spPr>
        <p:txBody>
          <a:bodyPr wrap="square" rtlCol="0"/>
          <a:lstStyle>
            <a:lvl1pPr indent="0" marL="0">
              <a:buNone/>
              <a:defRPr lang="en-US" dirty="0"/>
            </a:lvl1pPr>
          </a:lstStyle>
          <a:p>
            <a:pPr indent="0" marL="0">
              <a:buNone/>
            </a:pPr>
            <a:endParaRPr lang="en-US" dirty="0"/>
          </a:p>
        </p:txBody>
      </p:sp>
      <p:sp>
        <p:nvSpPr>
          <p:cNvPr id="6" name="Text 0"/>
          <p:cNvSpPr/>
          <p:nvPr>
            <p:ph type="pic" idx="104" hasCustomPrompt="1"/>
          </p:nvPr>
        </p:nvSpPr>
        <p:spPr>
          <a:xfrm>
            <a:off x="5568696" y="8394192"/>
            <a:ext cx="1563624" cy="694944"/>
          </a:xfrm>
          <a:prstGeom prst="rect">
            <a:avLst/>
          </a:prstGeom>
          <a:noFill/>
          <a:ln/>
        </p:spPr>
        <p:txBody>
          <a:bodyPr wrap="square" rtlCol="0"/>
          <a:lstStyle>
            <a:lvl1pPr indent="0" marL="0">
              <a:buNone/>
              <a:defRPr lang="en-US" dirty="0"/>
            </a:lvl1pPr>
          </a:lstStyle>
          <a:p>
            <a:pPr indent="0" marL="0">
              <a:buNone/>
            </a:pP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type="pic" idx="100" hasCustomPrompt="1"/>
          </p:nvPr>
        </p:nvSpPr>
        <p:spPr>
          <a:xfrm>
            <a:off x="429768" y="393192"/>
            <a:ext cx="6702552" cy="1444752"/>
          </a:xfrm>
          <a:prstGeom prst="rect">
            <a:avLst/>
          </a:prstGeom>
          <a:noFill/>
          <a:ln/>
        </p:spPr>
        <p:txBody>
          <a:bodyPr wrap="square" rtlCol="0"/>
          <a:lstStyle>
            <a:lvl1pPr indent="0" marL="0">
              <a:buNone/>
              <a:defRPr lang="en-US" dirty="0"/>
            </a:lvl1pPr>
          </a:lstStyle>
          <a:p>
            <a:pPr indent="0" marL="0">
              <a:buNone/>
            </a:pPr>
            <a:endParaRPr lang="en-US" dirty="0"/>
          </a:p>
        </p:txBody>
      </p:sp>
      <p:sp>
        <p:nvSpPr>
          <p:cNvPr id="3" name="Text 0"/>
          <p:cNvSpPr/>
          <p:nvPr>
            <p:ph type="pic" idx="101" hasCustomPrompt="1"/>
          </p:nvPr>
        </p:nvSpPr>
        <p:spPr>
          <a:xfrm>
            <a:off x="429768" y="7818120"/>
            <a:ext cx="1563624" cy="1280160"/>
          </a:xfrm>
          <a:prstGeom prst="rect">
            <a:avLst/>
          </a:prstGeom>
          <a:noFill/>
          <a:ln/>
        </p:spPr>
        <p:txBody>
          <a:bodyPr wrap="square" rtlCol="0"/>
          <a:lstStyle>
            <a:lvl1pPr indent="0" marL="0">
              <a:buNone/>
              <a:defRPr lang="en-US" dirty="0"/>
            </a:lvl1pPr>
          </a:lstStyle>
          <a:p>
            <a:pPr indent="0" marL="0">
              <a:buNone/>
            </a:pPr>
            <a:endParaRPr lang="en-US" dirty="0"/>
          </a:p>
        </p:txBody>
      </p:sp>
      <p:sp>
        <p:nvSpPr>
          <p:cNvPr id="4" name="Text 0"/>
          <p:cNvSpPr/>
          <p:nvPr>
            <p:ph type="pic" idx="102" hasCustomPrompt="1"/>
          </p:nvPr>
        </p:nvSpPr>
        <p:spPr>
          <a:xfrm>
            <a:off x="2084832" y="7818120"/>
            <a:ext cx="1563624" cy="1280160"/>
          </a:xfrm>
          <a:prstGeom prst="rect">
            <a:avLst/>
          </a:prstGeom>
          <a:noFill/>
          <a:ln/>
        </p:spPr>
        <p:txBody>
          <a:bodyPr wrap="square" rtlCol="0"/>
          <a:lstStyle>
            <a:lvl1pPr indent="0" marL="0">
              <a:buNone/>
              <a:defRPr lang="en-US" dirty="0"/>
            </a:lvl1pPr>
          </a:lstStyle>
          <a:p>
            <a:pPr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image" Target="../media/image-1-6.jpg"/><Relationship Id="rId7" Type="http://schemas.openxmlformats.org/officeDocument/2006/relationships/image" Target="../media/image-1-7.jpg"/><Relationship Id="rId8" Type="http://schemas.openxmlformats.org/officeDocument/2006/relationships/slideLayout" Target="../slideLayouts/slideLayout2.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jpg"/><Relationship Id="rId5" Type="http://schemas.openxmlformats.org/officeDocument/2006/relationships/image" Target="../media/image-2-5.jp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pel-website/ilcec2027/flyer/pptx/photos/hero-front.jpg">    </p:cNvPr>
          <p:cNvPicPr>
            <a:picLocks noChangeAspect="1"/>
          </p:cNvPicPr>
          <p:nvPr>
            <p:ph type="pic" idx="100" hasCustomPrompt="1"/>
          </p:nvPr>
        </p:nvPicPr>
        <p:blipFill>
          <a:blip r:embed="rId1"/>
          <a:stretch>
            <a:fillRect/>
          </a:stretch>
        </p:blipFill>
        <p:spPr>
          <a:xfrm>
            <a:off x="429768" y="393192"/>
            <a:ext cx="6702552" cy="1737360"/>
          </a:xfrm>
          <a:prstGeom prst="roundRect">
            <a:avLst>
              <a:gd name="adj" fmla="val 4210"/>
            </a:avLst>
          </a:prstGeom>
        </p:spPr>
      </p:pic>
      <p:sp>
        <p:nvSpPr>
          <p:cNvPr id="3" name="Text 0"/>
          <p:cNvSpPr txBox="1"/>
          <p:nvPr/>
        </p:nvSpPr>
        <p:spPr>
          <a:xfrm>
            <a:off x="594360" y="1828800"/>
            <a:ext cx="1920240" cy="228600"/>
          </a:xfrm>
          <a:prstGeom prst="rect">
            <a:avLst/>
          </a:prstGeom>
          <a:solidFill>
            <a:srgbClr val="1B2450">
              <a:alpha val="55000"/>
            </a:srgbClr>
          </a:solidFill>
          <a:ln w="6350">
            <a:solidFill>
              <a:srgbClr val="FFFFFF">
                <a:alpha val="55000"/>
              </a:srgbClr>
            </a:solidFill>
          </a:ln>
        </p:spPr>
        <p:txBody>
          <a:bodyPr wrap="square" lIns="0" tIns="76200" rIns="76200" bIns="0" rtlCol="0" anchor="ctr"/>
          <a:lstStyle/>
          <a:p>
            <a:pPr indent="0" marL="0">
              <a:buNone/>
            </a:pPr>
            <a:r>
              <a:rPr lang="en-US" sz="800" b="1" spc="300" kern="0" dirty="0">
                <a:solidFill>
                  <a:srgbClr val="FFFFFF"/>
                </a:solidFill>
                <a:latin typeface="Manrope" pitchFamily="34" charset="0"/>
                <a:ea typeface="Manrope" pitchFamily="34" charset="-122"/>
                <a:cs typeface="Manrope" pitchFamily="34" charset="-120"/>
              </a:rPr>
              <a:t>SEOUL  ·  KOREA  ·  2027</a:t>
            </a:r>
            <a:endParaRPr lang="en-US" sz="800" dirty="0"/>
          </a:p>
        </p:txBody>
      </p:sp>
      <p:pic>
        <p:nvPicPr>
          <p:cNvPr id="4" name="Image 1" descr="/home/user/spel-website/ilcec2027/flyer/pptx/motif.png">    </p:cNvPr>
          <p:cNvPicPr>
            <a:picLocks noChangeAspect="1"/>
          </p:cNvPicPr>
          <p:nvPr/>
        </p:nvPicPr>
        <p:blipFill>
          <a:blip r:embed="rId2"/>
          <a:stretch>
            <a:fillRect/>
          </a:stretch>
        </p:blipFill>
        <p:spPr>
          <a:xfrm>
            <a:off x="5989320" y="18288"/>
            <a:ext cx="1417320" cy="1417320"/>
          </a:xfrm>
          <a:prstGeom prst="rect">
            <a:avLst/>
          </a:prstGeom>
        </p:spPr>
      </p:pic>
      <p:pic>
        <p:nvPicPr>
          <p:cNvPr id="5" name="Image 2" descr="/home/user/spel-website/ilcec2027/flyer/pptx/motif2.png">    </p:cNvPr>
          <p:cNvPicPr>
            <a:picLocks noChangeAspect="1"/>
          </p:cNvPicPr>
          <p:nvPr/>
        </p:nvPicPr>
        <p:blipFill>
          <a:blip r:embed="rId3"/>
          <a:stretch>
            <a:fillRect/>
          </a:stretch>
        </p:blipFill>
        <p:spPr>
          <a:xfrm>
            <a:off x="4645152" y="1938528"/>
            <a:ext cx="502920" cy="502920"/>
          </a:xfrm>
          <a:prstGeom prst="rect">
            <a:avLst/>
          </a:prstGeom>
        </p:spPr>
      </p:pic>
      <p:sp>
        <p:nvSpPr>
          <p:cNvPr id="6" name="Text 1"/>
          <p:cNvSpPr txBox="1"/>
          <p:nvPr/>
        </p:nvSpPr>
        <p:spPr>
          <a:xfrm>
            <a:off x="429768" y="2286000"/>
            <a:ext cx="4663440" cy="868680"/>
          </a:xfrm>
          <a:prstGeom prst="rect">
            <a:avLst/>
          </a:prstGeom>
          <a:noFill/>
          <a:ln/>
        </p:spPr>
        <p:txBody>
          <a:bodyPr wrap="square" lIns="0" tIns="0" rIns="0" bIns="0" rtlCol="0" anchor="b"/>
          <a:lstStyle/>
          <a:p>
            <a:pPr indent="0" marL="0">
              <a:lnSpc>
                <a:spcPct val="95000"/>
              </a:lnSpc>
              <a:buNone/>
            </a:pPr>
            <a:r>
              <a:rPr lang="en-US" sz="2500" b="1" spc="-40" kern="0" dirty="0">
                <a:solidFill>
                  <a:srgbClr val="1B2450"/>
                </a:solidFill>
                <a:latin typeface="Manrope" pitchFamily="34" charset="0"/>
                <a:ea typeface="Manrope" pitchFamily="34" charset="-122"/>
                <a:cs typeface="Manrope" pitchFamily="34" charset="-120"/>
              </a:rPr>
              <a:t>International Liquid Crystal</a:t>
            </a:r>
            <a:endParaRPr lang="en-US" sz="2500" dirty="0"/>
          </a:p>
          <a:p>
            <a:pPr indent="0" marL="0">
              <a:lnSpc>
                <a:spcPct val="95000"/>
              </a:lnSpc>
              <a:buNone/>
            </a:pPr>
            <a:r>
              <a:rPr lang="en-US" sz="2500" b="1" spc="-40" kern="0" dirty="0">
                <a:solidFill>
                  <a:srgbClr val="1B2450"/>
                </a:solidFill>
                <a:latin typeface="Manrope" pitchFamily="34" charset="0"/>
                <a:ea typeface="Manrope" pitchFamily="34" charset="-122"/>
                <a:cs typeface="Manrope" pitchFamily="34" charset="-120"/>
              </a:rPr>
              <a:t>Elastomer Conference</a:t>
            </a:r>
            <a:endParaRPr lang="en-US" sz="2500" dirty="0"/>
          </a:p>
        </p:txBody>
      </p:sp>
      <p:sp>
        <p:nvSpPr>
          <p:cNvPr id="7" name="Text 2"/>
          <p:cNvSpPr txBox="1"/>
          <p:nvPr/>
        </p:nvSpPr>
        <p:spPr>
          <a:xfrm>
            <a:off x="5138928" y="2286000"/>
            <a:ext cx="2057400" cy="868680"/>
          </a:xfrm>
          <a:prstGeom prst="rect">
            <a:avLst/>
          </a:prstGeom>
          <a:noFill/>
          <a:ln/>
        </p:spPr>
        <p:txBody>
          <a:bodyPr wrap="square" lIns="0" tIns="0" rIns="0" bIns="0" rtlCol="0" anchor="b"/>
          <a:lstStyle/>
          <a:p>
            <a:pPr indent="0" marL="0">
              <a:lnSpc>
                <a:spcPct val="110000"/>
              </a:lnSpc>
              <a:buNone/>
            </a:pPr>
            <a:r>
              <a:rPr lang="en-US" sz="1500" b="1" dirty="0">
                <a:solidFill>
                  <a:srgbClr val="D8432F"/>
                </a:solidFill>
                <a:latin typeface="Manrope" pitchFamily="34" charset="0"/>
                <a:ea typeface="Manrope" pitchFamily="34" charset="-122"/>
                <a:cs typeface="Manrope" pitchFamily="34" charset="-120"/>
              </a:rPr>
              <a:t>ILCEC 2027</a:t>
            </a:r>
            <a:endParaRPr lang="en-US" sz="1500" dirty="0"/>
          </a:p>
          <a:p>
            <a:pPr indent="0" marL="0">
              <a:lnSpc>
                <a:spcPct val="110000"/>
              </a:lnSpc>
              <a:buNone/>
            </a:pPr>
            <a:r>
              <a:rPr lang="en-US" sz="1050" b="1" dirty="0">
                <a:solidFill>
                  <a:srgbClr val="2C3A7A"/>
                </a:solidFill>
                <a:latin typeface="Manrope" pitchFamily="34" charset="0"/>
                <a:ea typeface="Manrope" pitchFamily="34" charset="-122"/>
                <a:cs typeface="Manrope" pitchFamily="34" charset="-120"/>
              </a:rPr>
              <a:t>on </a:t>
            </a:r>
            <a:pPr indent="0" marL="0">
              <a:lnSpc>
                <a:spcPct val="110000"/>
              </a:lnSpc>
              <a:buNone/>
            </a:pPr>
            <a:r>
              <a:rPr lang="en-US" sz="1050" b="1" dirty="0">
                <a:solidFill>
                  <a:srgbClr val="B8402F"/>
                </a:solidFill>
                <a:highlight>
                  <a:srgbClr val="FFF1EE"/>
                </a:highlight>
                <a:latin typeface="Manrope" pitchFamily="34" charset="0"/>
                <a:ea typeface="Manrope" pitchFamily="34" charset="-122"/>
                <a:cs typeface="Manrope" pitchFamily="34" charset="-120"/>
              </a:rPr>
              <a:t> DD–DD Month 2027 </a:t>
            </a:r>
            <a:endParaRPr lang="en-US" sz="1500" dirty="0"/>
          </a:p>
          <a:p>
            <a:pPr indent="0" marL="0">
              <a:lnSpc>
                <a:spcPct val="110000"/>
              </a:lnSpc>
              <a:buNone/>
            </a:pPr>
            <a:r>
              <a:rPr lang="en-US" sz="1050" b="1" dirty="0">
                <a:solidFill>
                  <a:srgbClr val="2C3A7A"/>
                </a:solidFill>
                <a:latin typeface="Manrope" pitchFamily="34" charset="0"/>
                <a:ea typeface="Manrope" pitchFamily="34" charset="-122"/>
                <a:cs typeface="Manrope" pitchFamily="34" charset="-120"/>
              </a:rPr>
              <a:t>in Seoul, Republic of Korea</a:t>
            </a:r>
            <a:endParaRPr lang="en-US" sz="1500" dirty="0"/>
          </a:p>
        </p:txBody>
      </p:sp>
      <p:sp>
        <p:nvSpPr>
          <p:cNvPr id="8" name="Text 3"/>
          <p:cNvSpPr txBox="1"/>
          <p:nvPr/>
        </p:nvSpPr>
        <p:spPr>
          <a:xfrm rot="2700000">
            <a:off x="6053328" y="420624"/>
            <a:ext cx="2011680" cy="237744"/>
          </a:xfrm>
          <a:prstGeom prst="rect">
            <a:avLst/>
          </a:prstGeom>
          <a:solidFill>
            <a:srgbClr val="D8432F"/>
          </a:solidFill>
          <a:ln/>
          <a:effectLst>
            <a:outerShdw sx="100000" sy="100000" kx="0" ky="0" algn="bl" rotWithShape="0" blurRad="38100" dist="12700" dir="5400000">
              <a:srgbClr val="000000">
                <a:alpha val="25000"/>
              </a:srgbClr>
            </a:outerShdw>
          </a:effectLst>
        </p:spPr>
        <p:txBody>
          <a:bodyPr wrap="square" lIns="0" tIns="0" rIns="0" bIns="0" rtlCol="0" anchor="ctr"/>
          <a:lstStyle/>
          <a:p>
            <a:pPr algn="ctr" indent="0" marL="0">
              <a:buNone/>
            </a:pPr>
            <a:r>
              <a:rPr lang="en-US" sz="750" b="1" spc="300" kern="0" dirty="0">
                <a:solidFill>
                  <a:srgbClr val="FFFFFF"/>
                </a:solidFill>
                <a:latin typeface="Manrope" pitchFamily="34" charset="0"/>
                <a:ea typeface="Manrope" pitchFamily="34" charset="-122"/>
                <a:cs typeface="Manrope" pitchFamily="34" charset="-120"/>
              </a:rPr>
              <a:t>DRAFT · TBD</a:t>
            </a:r>
            <a:endParaRPr lang="en-US" sz="750" dirty="0"/>
          </a:p>
        </p:txBody>
      </p:sp>
      <p:sp>
        <p:nvSpPr>
          <p:cNvPr id="9" name="Text 4"/>
          <p:cNvSpPr txBox="1"/>
          <p:nvPr/>
        </p:nvSpPr>
        <p:spPr>
          <a:xfrm>
            <a:off x="429768" y="3310128"/>
            <a:ext cx="6702552" cy="1005840"/>
          </a:xfrm>
          <a:prstGeom prst="rect">
            <a:avLst/>
          </a:prstGeom>
          <a:noFill/>
          <a:ln/>
        </p:spPr>
        <p:txBody>
          <a:bodyPr wrap="square" lIns="0" tIns="0" rIns="0" bIns="0" rtlCol="0" anchor="t"/>
          <a:lstStyle/>
          <a:p>
            <a:pPr indent="0" marL="0">
              <a:lnSpc>
                <a:spcPct val="112000"/>
              </a:lnSpc>
              <a:buNone/>
            </a:pPr>
            <a:r>
              <a:rPr lang="en-US" sz="860" dirty="0">
                <a:solidFill>
                  <a:srgbClr val="2C3A7A"/>
                </a:solidFill>
                <a:latin typeface="Inter" pitchFamily="34" charset="0"/>
                <a:ea typeface="Inter" pitchFamily="34" charset="-122"/>
                <a:cs typeface="Inter" pitchFamily="34" charset="-120"/>
              </a:rPr>
              <a:t>The International Liquid Crystal Elastomer Conference (ILCEC) will be held in </a:t>
            </a:r>
            <a:pPr indent="0" marL="0">
              <a:lnSpc>
                <a:spcPct val="112000"/>
              </a:lnSpc>
              <a:buNone/>
            </a:pPr>
            <a:r>
              <a:rPr lang="en-US" sz="860" b="1" dirty="0">
                <a:solidFill>
                  <a:srgbClr val="1B2450"/>
                </a:solidFill>
                <a:latin typeface="Inter" pitchFamily="34" charset="0"/>
                <a:ea typeface="Inter" pitchFamily="34" charset="-122"/>
                <a:cs typeface="Inter" pitchFamily="34" charset="-120"/>
              </a:rPr>
              <a:t>2027 at the Royal Hotel Seoul, Myeongdong</a:t>
            </a:r>
            <a:pPr indent="0" marL="0">
              <a:lnSpc>
                <a:spcPct val="112000"/>
              </a:lnSpc>
              <a:buNone/>
            </a:pPr>
            <a:r>
              <a:rPr lang="en-US" sz="860" dirty="0">
                <a:solidFill>
                  <a:srgbClr val="2C3A7A"/>
                </a:solidFill>
                <a:latin typeface="Inter" pitchFamily="34" charset="0"/>
                <a:ea typeface="Inter" pitchFamily="34" charset="-122"/>
                <a:cs typeface="Inter" pitchFamily="34" charset="-120"/>
              </a:rPr>
              <a:t>, in the heart of Seoul, Republic of Korea. Following ILCEC 2025 in Tampere, ILCEC 2027 will bring together chemists, physicists and engineers to share fundamental advances and application opportunities for this exciting class of materials. The conference will cover, but is not limited to, dynamic and multiresponsive LCEs, soft mechanics and actuation, 4D printing, feedback-driven and autonomous motion, tunable photonics, and novel behaviour and functions of LCEs. Contributions on related stimuli-responsive soft materials are also welcome. We hope you will consider joining us in Seoul!</a:t>
            </a:r>
            <a:endParaRPr lang="en-US" sz="860" dirty="0"/>
          </a:p>
        </p:txBody>
      </p:sp>
      <p:sp>
        <p:nvSpPr>
          <p:cNvPr id="10" name="Text 5"/>
          <p:cNvSpPr txBox="1"/>
          <p:nvPr/>
        </p:nvSpPr>
        <p:spPr>
          <a:xfrm>
            <a:off x="429768" y="448056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Manrope" pitchFamily="34" charset="0"/>
                <a:ea typeface="Manrope" pitchFamily="34" charset="-122"/>
                <a:cs typeface="Manrope" pitchFamily="34" charset="-120"/>
              </a:rPr>
              <a:t>Chairs</a:t>
            </a:r>
            <a:endParaRPr lang="en-US" sz="860" dirty="0"/>
          </a:p>
        </p:txBody>
      </p:sp>
      <p:sp>
        <p:nvSpPr>
          <p:cNvPr id="11" name="Text 6"/>
          <p:cNvSpPr txBox="1"/>
          <p:nvPr/>
        </p:nvSpPr>
        <p:spPr>
          <a:xfrm>
            <a:off x="429768" y="4681728"/>
            <a:ext cx="3218688" cy="310896"/>
          </a:xfrm>
          <a:prstGeom prst="rect">
            <a:avLst/>
          </a:prstGeom>
          <a:noFill/>
          <a:ln/>
        </p:spPr>
        <p:txBody>
          <a:bodyPr wrap="square" lIns="0" tIns="0" rIns="0" bIns="0" rtlCol="0" anchor="t"/>
          <a:lstStyle/>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Chair name </a:t>
            </a:r>
            <a:pPr indent="0" marL="0">
              <a:spcAft>
                <a:spcPts val="200"/>
              </a:spcAft>
              <a:buNone/>
            </a:pPr>
            <a:r>
              <a:rPr lang="en-US" sz="760" dirty="0">
                <a:solidFill>
                  <a:srgbClr val="262B3D"/>
                </a:solidFill>
                <a:latin typeface="Inter" pitchFamily="34" charset="0"/>
                <a:ea typeface="Inter" pitchFamily="34" charset="-122"/>
                <a:cs typeface="Inter" pitchFamily="34" charset="-120"/>
              </a:rPr>
              <a:t>, </a:t>
            </a:r>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Affiliation </a:t>
            </a:r>
            <a:pPr indent="0" marL="0">
              <a:spcAft>
                <a:spcPts val="200"/>
              </a:spcAft>
              <a:buNone/>
            </a:pPr>
            <a:endParaRPr lang="en-US" sz="760" dirty="0"/>
          </a:p>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Co-chair name </a:t>
            </a:r>
            <a:pPr indent="0" marL="0">
              <a:spcAft>
                <a:spcPts val="200"/>
              </a:spcAft>
              <a:buNone/>
            </a:pPr>
            <a:r>
              <a:rPr lang="en-US" sz="760" dirty="0">
                <a:solidFill>
                  <a:srgbClr val="262B3D"/>
                </a:solidFill>
                <a:latin typeface="Inter" pitchFamily="34" charset="0"/>
                <a:ea typeface="Inter" pitchFamily="34" charset="-122"/>
                <a:cs typeface="Inter" pitchFamily="34" charset="-120"/>
              </a:rPr>
              <a:t>, </a:t>
            </a:r>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Affiliation </a:t>
            </a:r>
            <a:endParaRPr lang="en-US" sz="760" dirty="0"/>
          </a:p>
        </p:txBody>
      </p:sp>
      <p:sp>
        <p:nvSpPr>
          <p:cNvPr id="12" name="Text 7"/>
          <p:cNvSpPr txBox="1"/>
          <p:nvPr/>
        </p:nvSpPr>
        <p:spPr>
          <a:xfrm>
            <a:off x="429768" y="5047488"/>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Manrope" pitchFamily="34" charset="0"/>
                <a:ea typeface="Manrope" pitchFamily="34" charset="-122"/>
                <a:cs typeface="Manrope" pitchFamily="34" charset="-120"/>
              </a:rPr>
              <a:t>Contact</a:t>
            </a:r>
            <a:endParaRPr lang="en-US" sz="860" dirty="0"/>
          </a:p>
        </p:txBody>
      </p:sp>
      <p:sp>
        <p:nvSpPr>
          <p:cNvPr id="13" name="Text 8"/>
          <p:cNvSpPr txBox="1"/>
          <p:nvPr/>
        </p:nvSpPr>
        <p:spPr>
          <a:xfrm>
            <a:off x="429768" y="5248656"/>
            <a:ext cx="3218688" cy="310896"/>
          </a:xfrm>
          <a:prstGeom prst="rect">
            <a:avLst/>
          </a:prstGeom>
          <a:noFill/>
          <a:ln/>
        </p:spPr>
        <p:txBody>
          <a:bodyPr wrap="square" lIns="0" tIns="0" rIns="0" bIns="0" rtlCol="0" anchor="t"/>
          <a:lstStyle/>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Coordinator name </a:t>
            </a:r>
            <a:pPr indent="0" marL="0">
              <a:spcAft>
                <a:spcPts val="200"/>
              </a:spcAft>
              <a:buNone/>
            </a:pPr>
            <a:r>
              <a:rPr lang="en-US" sz="760" dirty="0">
                <a:solidFill>
                  <a:srgbClr val="262B3D"/>
                </a:solidFill>
                <a:latin typeface="Inter" pitchFamily="34" charset="0"/>
                <a:ea typeface="Inter" pitchFamily="34" charset="-122"/>
                <a:cs typeface="Inter" pitchFamily="34" charset="-120"/>
              </a:rPr>
              <a:t>, conference coordinator</a:t>
            </a:r>
            <a:pPr indent="0" marL="0">
              <a:spcAft>
                <a:spcPts val="200"/>
              </a:spcAft>
              <a:buNone/>
            </a:pPr>
            <a:endParaRPr lang="en-US" sz="760" dirty="0"/>
          </a:p>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ilcec2027@___.ac.kr </a:t>
            </a:r>
            <a:endParaRPr lang="en-US" sz="760" dirty="0"/>
          </a:p>
        </p:txBody>
      </p:sp>
      <p:sp>
        <p:nvSpPr>
          <p:cNvPr id="14" name="Text 9"/>
          <p:cNvSpPr txBox="1"/>
          <p:nvPr/>
        </p:nvSpPr>
        <p:spPr>
          <a:xfrm>
            <a:off x="429768" y="5614416"/>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Manrope" pitchFamily="34" charset="0"/>
                <a:ea typeface="Manrope" pitchFamily="34" charset="-122"/>
                <a:cs typeface="Manrope" pitchFamily="34" charset="-120"/>
              </a:rPr>
              <a:t>Important dates</a:t>
            </a:r>
            <a:endParaRPr lang="en-US" sz="860" dirty="0"/>
          </a:p>
        </p:txBody>
      </p:sp>
      <p:sp>
        <p:nvSpPr>
          <p:cNvPr id="15" name="Text 10"/>
          <p:cNvSpPr txBox="1"/>
          <p:nvPr/>
        </p:nvSpPr>
        <p:spPr>
          <a:xfrm>
            <a:off x="429768" y="5815584"/>
            <a:ext cx="640080" cy="146304"/>
          </a:xfrm>
          <a:prstGeom prst="rect">
            <a:avLst/>
          </a:prstGeom>
          <a:noFill/>
          <a:ln/>
        </p:spPr>
        <p:txBody>
          <a:bodyPr wrap="square" lIns="0" tIns="0" rIns="0" bIns="0" rtlCol="0" anchor="t"/>
          <a:lstStyle/>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TBD </a:t>
            </a:r>
            <a:endParaRPr lang="en-US" sz="760" dirty="0"/>
          </a:p>
        </p:txBody>
      </p:sp>
      <p:sp>
        <p:nvSpPr>
          <p:cNvPr id="16" name="Text 11"/>
          <p:cNvSpPr txBox="1"/>
          <p:nvPr/>
        </p:nvSpPr>
        <p:spPr>
          <a:xfrm>
            <a:off x="1115568" y="5815584"/>
            <a:ext cx="2532888" cy="146304"/>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Inter" pitchFamily="34" charset="0"/>
                <a:ea typeface="Inter" pitchFamily="34" charset="-122"/>
                <a:cs typeface="Inter" pitchFamily="34" charset="-120"/>
              </a:rPr>
              <a:t>2nd announcement: speakers and key dates</a:t>
            </a:r>
            <a:endParaRPr lang="en-US" sz="760" dirty="0"/>
          </a:p>
        </p:txBody>
      </p:sp>
      <p:sp>
        <p:nvSpPr>
          <p:cNvPr id="17" name="Text 12"/>
          <p:cNvSpPr txBox="1"/>
          <p:nvPr/>
        </p:nvSpPr>
        <p:spPr>
          <a:xfrm>
            <a:off x="429768" y="5961888"/>
            <a:ext cx="640080" cy="146304"/>
          </a:xfrm>
          <a:prstGeom prst="rect">
            <a:avLst/>
          </a:prstGeom>
          <a:noFill/>
          <a:ln/>
        </p:spPr>
        <p:txBody>
          <a:bodyPr wrap="square" lIns="0" tIns="0" rIns="0" bIns="0" rtlCol="0" anchor="t"/>
          <a:lstStyle/>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TBD </a:t>
            </a:r>
            <a:endParaRPr lang="en-US" sz="760" dirty="0"/>
          </a:p>
        </p:txBody>
      </p:sp>
      <p:sp>
        <p:nvSpPr>
          <p:cNvPr id="18" name="Text 13"/>
          <p:cNvSpPr txBox="1"/>
          <p:nvPr/>
        </p:nvSpPr>
        <p:spPr>
          <a:xfrm>
            <a:off x="1115568" y="5961888"/>
            <a:ext cx="2532888" cy="146304"/>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Inter" pitchFamily="34" charset="0"/>
                <a:ea typeface="Inter" pitchFamily="34" charset="-122"/>
                <a:cs typeface="Inter" pitchFamily="34" charset="-120"/>
              </a:rPr>
              <a:t>Abstract submission opens</a:t>
            </a:r>
            <a:endParaRPr lang="en-US" sz="760" dirty="0"/>
          </a:p>
        </p:txBody>
      </p:sp>
      <p:sp>
        <p:nvSpPr>
          <p:cNvPr id="19" name="Text 14"/>
          <p:cNvSpPr txBox="1"/>
          <p:nvPr/>
        </p:nvSpPr>
        <p:spPr>
          <a:xfrm>
            <a:off x="429768" y="6108192"/>
            <a:ext cx="640080" cy="146304"/>
          </a:xfrm>
          <a:prstGeom prst="rect">
            <a:avLst/>
          </a:prstGeom>
          <a:noFill/>
          <a:ln/>
        </p:spPr>
        <p:txBody>
          <a:bodyPr wrap="square" lIns="0" tIns="0" rIns="0" bIns="0" rtlCol="0" anchor="t"/>
          <a:lstStyle/>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TBD </a:t>
            </a:r>
            <a:endParaRPr lang="en-US" sz="760" dirty="0"/>
          </a:p>
        </p:txBody>
      </p:sp>
      <p:sp>
        <p:nvSpPr>
          <p:cNvPr id="20" name="Text 15"/>
          <p:cNvSpPr txBox="1"/>
          <p:nvPr/>
        </p:nvSpPr>
        <p:spPr>
          <a:xfrm>
            <a:off x="1115568" y="6108192"/>
            <a:ext cx="2532888" cy="146304"/>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Inter" pitchFamily="34" charset="0"/>
                <a:ea typeface="Inter" pitchFamily="34" charset="-122"/>
                <a:cs typeface="Inter" pitchFamily="34" charset="-120"/>
              </a:rPr>
              <a:t>Abstract submission deadline</a:t>
            </a:r>
            <a:endParaRPr lang="en-US" sz="760" dirty="0"/>
          </a:p>
        </p:txBody>
      </p:sp>
      <p:sp>
        <p:nvSpPr>
          <p:cNvPr id="21" name="Text 16"/>
          <p:cNvSpPr txBox="1"/>
          <p:nvPr/>
        </p:nvSpPr>
        <p:spPr>
          <a:xfrm>
            <a:off x="429768" y="6254496"/>
            <a:ext cx="640080" cy="146304"/>
          </a:xfrm>
          <a:prstGeom prst="rect">
            <a:avLst/>
          </a:prstGeom>
          <a:noFill/>
          <a:ln/>
        </p:spPr>
        <p:txBody>
          <a:bodyPr wrap="square" lIns="0" tIns="0" rIns="0" bIns="0" rtlCol="0" anchor="t"/>
          <a:lstStyle/>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TBD </a:t>
            </a:r>
            <a:endParaRPr lang="en-US" sz="760" dirty="0"/>
          </a:p>
        </p:txBody>
      </p:sp>
      <p:sp>
        <p:nvSpPr>
          <p:cNvPr id="22" name="Text 17"/>
          <p:cNvSpPr txBox="1"/>
          <p:nvPr/>
        </p:nvSpPr>
        <p:spPr>
          <a:xfrm>
            <a:off x="1115568" y="6254496"/>
            <a:ext cx="2532888" cy="146304"/>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Inter" pitchFamily="34" charset="0"/>
                <a:ea typeface="Inter" pitchFamily="34" charset="-122"/>
                <a:cs typeface="Inter" pitchFamily="34" charset="-120"/>
              </a:rPr>
              <a:t>Early-bird registration deadline</a:t>
            </a:r>
            <a:endParaRPr lang="en-US" sz="760" dirty="0"/>
          </a:p>
        </p:txBody>
      </p:sp>
      <p:pic>
        <p:nvPicPr>
          <p:cNvPr id="23" name="Image 3" descr="/home/user/spel-website/ilcec2027/flyer/pptx/photos/p-myeongdong.jpg">    </p:cNvPr>
          <p:cNvPicPr>
            <a:picLocks noChangeAspect="1"/>
          </p:cNvPicPr>
          <p:nvPr>
            <p:ph type="pic" idx="101" hasCustomPrompt="1"/>
          </p:nvPr>
        </p:nvPicPr>
        <p:blipFill>
          <a:blip r:embed="rId4"/>
          <a:stretch>
            <a:fillRect/>
          </a:stretch>
        </p:blipFill>
        <p:spPr>
          <a:xfrm>
            <a:off x="429768" y="6967728"/>
            <a:ext cx="3218688" cy="1170432"/>
          </a:xfrm>
          <a:prstGeom prst="roundRect">
            <a:avLst>
              <a:gd name="adj" fmla="val 6250"/>
            </a:avLst>
          </a:prstGeom>
        </p:spPr>
      </p:pic>
      <p:pic>
        <p:nvPicPr>
          <p:cNvPr id="24" name="Image 4" descr="/home/user/spel-website/ilcec2027/flyer/pptx/photos/p-seoullo.jpg">    </p:cNvPr>
          <p:cNvPicPr>
            <a:picLocks noChangeAspect="1"/>
          </p:cNvPicPr>
          <p:nvPr>
            <p:ph type="pic" idx="102" hasCustomPrompt="1"/>
          </p:nvPr>
        </p:nvPicPr>
        <p:blipFill>
          <a:blip r:embed="rId5"/>
          <a:stretch>
            <a:fillRect/>
          </a:stretch>
        </p:blipFill>
        <p:spPr>
          <a:xfrm>
            <a:off x="429768" y="8211312"/>
            <a:ext cx="3218688" cy="877824"/>
          </a:xfrm>
          <a:prstGeom prst="roundRect">
            <a:avLst>
              <a:gd name="adj" fmla="val 8333"/>
            </a:avLst>
          </a:prstGeom>
        </p:spPr>
      </p:pic>
      <p:sp>
        <p:nvSpPr>
          <p:cNvPr id="25" name="Text 18"/>
          <p:cNvSpPr txBox="1"/>
          <p:nvPr/>
        </p:nvSpPr>
        <p:spPr>
          <a:xfrm>
            <a:off x="3913632" y="448056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Manrope" pitchFamily="34" charset="0"/>
                <a:ea typeface="Manrope" pitchFamily="34" charset="-122"/>
                <a:cs typeface="Manrope" pitchFamily="34" charset="-120"/>
              </a:rPr>
              <a:t>Venue</a:t>
            </a:r>
            <a:endParaRPr lang="en-US" sz="860" dirty="0"/>
          </a:p>
        </p:txBody>
      </p:sp>
      <p:sp>
        <p:nvSpPr>
          <p:cNvPr id="26" name="Text 19"/>
          <p:cNvSpPr txBox="1"/>
          <p:nvPr/>
        </p:nvSpPr>
        <p:spPr>
          <a:xfrm>
            <a:off x="3913632" y="4681728"/>
            <a:ext cx="3218688" cy="1097280"/>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Inter" pitchFamily="34" charset="0"/>
                <a:ea typeface="Inter" pitchFamily="34" charset="-122"/>
                <a:cs typeface="Inter" pitchFamily="34" charset="-120"/>
              </a:rPr>
              <a:t>The conference takes place at the </a:t>
            </a:r>
            <a:pPr indent="0" marL="0">
              <a:spcAft>
                <a:spcPts val="200"/>
              </a:spcAft>
              <a:buNone/>
            </a:pPr>
            <a:r>
              <a:rPr lang="en-US" sz="760" b="1" dirty="0">
                <a:solidFill>
                  <a:srgbClr val="1B2450"/>
                </a:solidFill>
                <a:latin typeface="Inter" pitchFamily="34" charset="0"/>
                <a:ea typeface="Inter" pitchFamily="34" charset="-122"/>
                <a:cs typeface="Inter" pitchFamily="34" charset="-120"/>
              </a:rPr>
              <a:t>Royal Hotel Seoul</a:t>
            </a:r>
            <a:pPr indent="0" marL="0">
              <a:spcAft>
                <a:spcPts val="200"/>
              </a:spcAft>
              <a:buNone/>
            </a:pPr>
            <a:r>
              <a:rPr lang="en-US" sz="760" dirty="0">
                <a:solidFill>
                  <a:srgbClr val="262B3D"/>
                </a:solidFill>
                <a:latin typeface="Inter" pitchFamily="34" charset="0"/>
                <a:ea typeface="Inter" pitchFamily="34" charset="-122"/>
                <a:cs typeface="Inter" pitchFamily="34" charset="-120"/>
              </a:rPr>
              <a:t> (61 Myeongdong-gil, Jung-gu) in the heart of Myeongdong, Seoul's most vibrant shopping and dining district, next to Myeongdong Cathedral and a few minutes' walk from Myeongdong and Euljiro 1-ga subway stations. Seoul is a city of 10 million where 600-year-old royal palaces and hanok villages sit beside a global hub of semiconductor, display and soft-materials research. Gyeongbokgung Palace, Bukchon Hanok Village, Namsan and the Cheonggyecheon stream are all within easy reach of the venue.</a:t>
            </a:r>
            <a:endParaRPr lang="en-US" sz="760" dirty="0"/>
          </a:p>
        </p:txBody>
      </p:sp>
      <p:sp>
        <p:nvSpPr>
          <p:cNvPr id="27" name="Text 20"/>
          <p:cNvSpPr txBox="1"/>
          <p:nvPr/>
        </p:nvSpPr>
        <p:spPr>
          <a:xfrm>
            <a:off x="3913632" y="5815584"/>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Manrope" pitchFamily="34" charset="0"/>
                <a:ea typeface="Manrope" pitchFamily="34" charset="-122"/>
                <a:cs typeface="Manrope" pitchFamily="34" charset="-120"/>
              </a:rPr>
              <a:t>Getting there</a:t>
            </a:r>
            <a:endParaRPr lang="en-US" sz="860" dirty="0"/>
          </a:p>
        </p:txBody>
      </p:sp>
      <p:sp>
        <p:nvSpPr>
          <p:cNvPr id="28" name="Text 21"/>
          <p:cNvSpPr txBox="1"/>
          <p:nvPr/>
        </p:nvSpPr>
        <p:spPr>
          <a:xfrm>
            <a:off x="3913632" y="6016752"/>
            <a:ext cx="3218688" cy="384048"/>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Inter" pitchFamily="34" charset="0"/>
                <a:ea typeface="Inter" pitchFamily="34" charset="-122"/>
                <a:cs typeface="Inter" pitchFamily="34" charset="-120"/>
              </a:rPr>
              <a:t>Incheon International Airport (ICN) is linked to Seoul Station by the AREX express train (about 45 min); the venue is then one subway stop or a 10-minute taxi ride away.</a:t>
            </a:r>
            <a:endParaRPr lang="en-US" sz="760" dirty="0"/>
          </a:p>
        </p:txBody>
      </p:sp>
      <p:sp>
        <p:nvSpPr>
          <p:cNvPr id="29" name="Text 22"/>
          <p:cNvSpPr txBox="1"/>
          <p:nvPr/>
        </p:nvSpPr>
        <p:spPr>
          <a:xfrm>
            <a:off x="3913632" y="6419088"/>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Manrope" pitchFamily="34" charset="0"/>
                <a:ea typeface="Manrope" pitchFamily="34" charset="-122"/>
                <a:cs typeface="Manrope" pitchFamily="34" charset="-120"/>
              </a:rPr>
              <a:t>Accommodation</a:t>
            </a:r>
            <a:endParaRPr lang="en-US" sz="860" dirty="0"/>
          </a:p>
        </p:txBody>
      </p:sp>
      <p:sp>
        <p:nvSpPr>
          <p:cNvPr id="30" name="Text 23"/>
          <p:cNvSpPr txBox="1"/>
          <p:nvPr/>
        </p:nvSpPr>
        <p:spPr>
          <a:xfrm>
            <a:off x="3913632" y="6620256"/>
            <a:ext cx="3218688" cy="502920"/>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Inter" pitchFamily="34" charset="0"/>
                <a:ea typeface="Inter" pitchFamily="34" charset="-122"/>
                <a:cs typeface="Inter" pitchFamily="34" charset="-120"/>
              </a:rPr>
              <a:t>A block of rooms at a conference rate will be pre-reserved at the Royal Hotel Seoul. Myeongdong offers a very wide range of hotels and guesthouses at every price level within walking distance of the venue; details will follow in the 2nd announcement.</a:t>
            </a:r>
            <a:endParaRPr lang="en-US" sz="760" dirty="0"/>
          </a:p>
        </p:txBody>
      </p:sp>
      <p:sp>
        <p:nvSpPr>
          <p:cNvPr id="31" name="Text 24"/>
          <p:cNvSpPr txBox="1"/>
          <p:nvPr/>
        </p:nvSpPr>
        <p:spPr>
          <a:xfrm>
            <a:off x="3913632" y="713232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Manrope" pitchFamily="34" charset="0"/>
                <a:ea typeface="Manrope" pitchFamily="34" charset="-122"/>
                <a:cs typeface="Manrope" pitchFamily="34" charset="-120"/>
              </a:rPr>
              <a:t>Social program </a:t>
            </a:r>
            <a:pPr indent="0" marL="0">
              <a:buNone/>
            </a:pPr>
            <a:r>
              <a:rPr lang="en-US" sz="700" b="1" dirty="0">
                <a:solidFill>
                  <a:srgbClr val="5B6079"/>
                </a:solidFill>
                <a:latin typeface="Inter" pitchFamily="34" charset="0"/>
                <a:ea typeface="Inter" pitchFamily="34" charset="-122"/>
                <a:cs typeface="Inter" pitchFamily="34" charset="-120"/>
              </a:rPr>
              <a:t>(tentative)</a:t>
            </a:r>
            <a:endParaRPr lang="en-US" sz="860" dirty="0"/>
          </a:p>
        </p:txBody>
      </p:sp>
      <p:sp>
        <p:nvSpPr>
          <p:cNvPr id="32" name="Text 25"/>
          <p:cNvSpPr txBox="1"/>
          <p:nvPr/>
        </p:nvSpPr>
        <p:spPr>
          <a:xfrm>
            <a:off x="3913632" y="7333488"/>
            <a:ext cx="3218688" cy="1005840"/>
          </a:xfrm>
          <a:prstGeom prst="rect">
            <a:avLst/>
          </a:prstGeom>
          <a:noFill/>
          <a:ln/>
        </p:spPr>
        <p:txBody>
          <a:bodyPr wrap="square" lIns="0" tIns="0" rIns="0" bIns="0" rtlCol="0" anchor="t"/>
          <a:lstStyle/>
          <a:p>
            <a:pPr indent="0" marL="0">
              <a:spcAft>
                <a:spcPts val="100"/>
              </a:spcAft>
              <a:buNone/>
            </a:pPr>
            <a:r>
              <a:rPr lang="en-US" sz="760" b="1" dirty="0">
                <a:solidFill>
                  <a:srgbClr val="1B2450"/>
                </a:solidFill>
                <a:latin typeface="Inter" pitchFamily="34" charset="0"/>
                <a:ea typeface="Inter" pitchFamily="34" charset="-122"/>
                <a:cs typeface="Inter" pitchFamily="34" charset="-120"/>
              </a:rPr>
              <a:t>Welcome reception</a:t>
            </a:r>
            <a:pPr indent="0" marL="0">
              <a:spcAft>
                <a:spcPts val="100"/>
              </a:spcAft>
              <a:buNone/>
            </a:pPr>
            <a:r>
              <a:rPr lang="en-US" sz="760" dirty="0">
                <a:solidFill>
                  <a:srgbClr val="262B3D"/>
                </a:solidFill>
                <a:latin typeface="Inter" pitchFamily="34" charset="0"/>
                <a:ea typeface="Inter" pitchFamily="34" charset="-122"/>
                <a:cs typeface="Inter" pitchFamily="34" charset="-120"/>
              </a:rPr>
              <a:t> on </a:t>
            </a:r>
            <a:pPr indent="0" marL="0">
              <a:spcAft>
                <a:spcPts val="1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Day 1 </a:t>
            </a:r>
            <a:pPr indent="0" marL="0">
              <a:spcAft>
                <a:spcPts val="200"/>
              </a:spcAft>
              <a:buNone/>
            </a:pPr>
            <a:endParaRPr lang="en-US" sz="760" dirty="0"/>
          </a:p>
          <a:p>
            <a:pPr indent="0" marL="0">
              <a:spcAft>
                <a:spcPts val="100"/>
              </a:spcAft>
              <a:buNone/>
            </a:pPr>
            <a:r>
              <a:rPr lang="en-US" sz="760" dirty="0">
                <a:solidFill>
                  <a:srgbClr val="262B3D"/>
                </a:solidFill>
                <a:latin typeface="Inter" pitchFamily="34" charset="0"/>
                <a:ea typeface="Inter" pitchFamily="34" charset="-122"/>
                <a:cs typeface="Inter" pitchFamily="34" charset="-120"/>
              </a:rPr>
              <a:t>Welcome reception at the conference hotel on the first evening.</a:t>
            </a:r>
            <a:endParaRPr lang="en-US" sz="760" dirty="0"/>
          </a:p>
          <a:p>
            <a:pPr indent="0" marL="0">
              <a:spcAft>
                <a:spcPts val="100"/>
              </a:spcAft>
              <a:buNone/>
            </a:pPr>
            <a:r>
              <a:rPr lang="en-US" sz="760" b="1" dirty="0">
                <a:solidFill>
                  <a:srgbClr val="1B2450"/>
                </a:solidFill>
                <a:latin typeface="Inter" pitchFamily="34" charset="0"/>
                <a:ea typeface="Inter" pitchFamily="34" charset="-122"/>
                <a:cs typeface="Inter" pitchFamily="34" charset="-120"/>
              </a:rPr>
              <a:t>Conference dinner</a:t>
            </a:r>
            <a:pPr indent="0" marL="0">
              <a:spcAft>
                <a:spcPts val="100"/>
              </a:spcAft>
              <a:buNone/>
            </a:pPr>
            <a:r>
              <a:rPr lang="en-US" sz="760" dirty="0">
                <a:solidFill>
                  <a:srgbClr val="262B3D"/>
                </a:solidFill>
                <a:latin typeface="Inter" pitchFamily="34" charset="0"/>
                <a:ea typeface="Inter" pitchFamily="34" charset="-122"/>
                <a:cs typeface="Inter" pitchFamily="34" charset="-120"/>
              </a:rPr>
              <a:t> on </a:t>
            </a:r>
            <a:pPr indent="0" marL="0">
              <a:spcAft>
                <a:spcPts val="1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Day 3 </a:t>
            </a:r>
            <a:pPr indent="0" marL="0">
              <a:spcAft>
                <a:spcPts val="200"/>
              </a:spcAft>
              <a:buNone/>
            </a:pPr>
            <a:endParaRPr lang="en-US" sz="760" dirty="0"/>
          </a:p>
          <a:p>
            <a:pPr indent="0" marL="0">
              <a:spcAft>
                <a:spcPts val="100"/>
              </a:spcAft>
              <a:buNone/>
            </a:pPr>
            <a:r>
              <a:rPr lang="en-US" sz="760" dirty="0">
                <a:solidFill>
                  <a:srgbClr val="262B3D"/>
                </a:solidFill>
                <a:latin typeface="Inter" pitchFamily="34" charset="0"/>
                <a:ea typeface="Inter" pitchFamily="34" charset="-122"/>
                <a:cs typeface="Inter" pitchFamily="34" charset="-120"/>
              </a:rPr>
              <a:t>Korean banquet in the city centre with a traditional performance.</a:t>
            </a:r>
            <a:endParaRPr lang="en-US" sz="760" dirty="0"/>
          </a:p>
          <a:p>
            <a:pPr indent="0" marL="0">
              <a:spcAft>
                <a:spcPts val="100"/>
              </a:spcAft>
              <a:buNone/>
            </a:pPr>
            <a:r>
              <a:rPr lang="en-US" sz="760" b="1" dirty="0">
                <a:solidFill>
                  <a:srgbClr val="1B2450"/>
                </a:solidFill>
                <a:latin typeface="Inter" pitchFamily="34" charset="0"/>
                <a:ea typeface="Inter" pitchFamily="34" charset="-122"/>
                <a:cs typeface="Inter" pitchFamily="34" charset="-120"/>
              </a:rPr>
              <a:t>Cultural afternoon</a:t>
            </a:r>
            <a:pPr indent="0" marL="0">
              <a:spcAft>
                <a:spcPts val="100"/>
              </a:spcAft>
              <a:buNone/>
            </a:pPr>
            <a:r>
              <a:rPr lang="en-US" sz="760" dirty="0">
                <a:solidFill>
                  <a:srgbClr val="262B3D"/>
                </a:solidFill>
                <a:latin typeface="Inter" pitchFamily="34" charset="0"/>
                <a:ea typeface="Inter" pitchFamily="34" charset="-122"/>
                <a:cs typeface="Inter" pitchFamily="34" charset="-120"/>
              </a:rPr>
              <a:t> on </a:t>
            </a:r>
            <a:pPr indent="0" marL="0">
              <a:spcAft>
                <a:spcPts val="1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Day 4 </a:t>
            </a:r>
            <a:pPr indent="0" marL="0">
              <a:spcAft>
                <a:spcPts val="200"/>
              </a:spcAft>
              <a:buNone/>
            </a:pPr>
            <a:endParaRPr lang="en-US" sz="760" dirty="0"/>
          </a:p>
          <a:p>
            <a:pPr indent="0" marL="0">
              <a:spcAft>
                <a:spcPts val="100"/>
              </a:spcAft>
              <a:buNone/>
            </a:pPr>
            <a:r>
              <a:rPr lang="en-US" sz="760" dirty="0">
                <a:solidFill>
                  <a:srgbClr val="262B3D"/>
                </a:solidFill>
                <a:latin typeface="Inter" pitchFamily="34" charset="0"/>
                <a:ea typeface="Inter" pitchFamily="34" charset="-122"/>
                <a:cs typeface="Inter" pitchFamily="34" charset="-120"/>
              </a:rPr>
              <a:t>Gyeongbokgung Palace and Bukchon Hanok Village, or a Han River evening cruise.</a:t>
            </a:r>
            <a:endParaRPr lang="en-US" sz="760" dirty="0"/>
          </a:p>
        </p:txBody>
      </p:sp>
      <p:pic>
        <p:nvPicPr>
          <p:cNvPr id="33" name="Image 5" descr="/home/user/spel-website/ilcec2027/flyer/pptx/photos/p-gyeongbokgung.jpg">    </p:cNvPr>
          <p:cNvPicPr>
            <a:picLocks noChangeAspect="1"/>
          </p:cNvPicPr>
          <p:nvPr>
            <p:ph type="pic" idx="103" hasCustomPrompt="1"/>
          </p:nvPr>
        </p:nvPicPr>
        <p:blipFill>
          <a:blip r:embed="rId6"/>
          <a:stretch>
            <a:fillRect/>
          </a:stretch>
        </p:blipFill>
        <p:spPr>
          <a:xfrm>
            <a:off x="3913632" y="8394192"/>
            <a:ext cx="1563624" cy="694944"/>
          </a:xfrm>
          <a:prstGeom prst="roundRect">
            <a:avLst>
              <a:gd name="adj" fmla="val 10526"/>
            </a:avLst>
          </a:prstGeom>
        </p:spPr>
      </p:pic>
      <p:pic>
        <p:nvPicPr>
          <p:cNvPr id="34" name="Image 6" descr="/home/user/spel-website/ilcec2027/flyer/pptx/photos/p-hangang.jpg">    </p:cNvPr>
          <p:cNvPicPr>
            <a:picLocks noChangeAspect="1"/>
          </p:cNvPicPr>
          <p:nvPr>
            <p:ph type="pic" idx="104" hasCustomPrompt="1"/>
          </p:nvPr>
        </p:nvPicPr>
        <p:blipFill>
          <a:blip r:embed="rId7"/>
          <a:stretch>
            <a:fillRect/>
          </a:stretch>
        </p:blipFill>
        <p:spPr>
          <a:xfrm>
            <a:off x="5568696" y="8394192"/>
            <a:ext cx="1563624" cy="694944"/>
          </a:xfrm>
          <a:prstGeom prst="roundRect">
            <a:avLst>
              <a:gd name="adj" fmla="val 10526"/>
            </a:avLst>
          </a:prstGeom>
        </p:spPr>
      </p:pic>
      <p:sp>
        <p:nvSpPr>
          <p:cNvPr id="35" name="Shape 26"/>
          <p:cNvSpPr/>
          <p:nvPr/>
        </p:nvSpPr>
        <p:spPr>
          <a:xfrm>
            <a:off x="429768" y="9253728"/>
            <a:ext cx="6702552" cy="0"/>
          </a:xfrm>
          <a:prstGeom prst="line">
            <a:avLst/>
          </a:prstGeom>
          <a:noFill/>
          <a:ln w="9525">
            <a:solidFill>
              <a:srgbClr val="CFD4EA"/>
            </a:solidFill>
            <a:prstDash val="solid"/>
          </a:ln>
        </p:spPr>
      </p:sp>
      <p:sp>
        <p:nvSpPr>
          <p:cNvPr id="36" name="Shape 27"/>
          <p:cNvSpPr/>
          <p:nvPr/>
        </p:nvSpPr>
        <p:spPr>
          <a:xfrm>
            <a:off x="429768" y="9363456"/>
            <a:ext cx="932688" cy="347472"/>
          </a:xfrm>
          <a:prstGeom prst="roundRect">
            <a:avLst>
              <a:gd name="adj" fmla="val 10526"/>
            </a:avLst>
          </a:prstGeom>
          <a:solidFill>
            <a:srgbClr val="FFFFFF"/>
          </a:solidFill>
          <a:ln w="9525">
            <a:solidFill>
              <a:srgbClr val="CFD4EA"/>
            </a:solidFill>
            <a:prstDash val="dash"/>
          </a:ln>
        </p:spPr>
      </p:sp>
      <p:sp>
        <p:nvSpPr>
          <p:cNvPr id="37" name="Text 28"/>
          <p:cNvSpPr txBox="1"/>
          <p:nvPr/>
        </p:nvSpPr>
        <p:spPr>
          <a:xfrm>
            <a:off x="429768"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Inter" pitchFamily="34" charset="0"/>
                <a:ea typeface="Inter" pitchFamily="34" charset="-122"/>
                <a:cs typeface="Inter" pitchFamily="34" charset="-120"/>
              </a:rPr>
              <a:t>Host institution logo</a:t>
            </a:r>
            <a:endParaRPr lang="en-US" sz="620" dirty="0"/>
          </a:p>
        </p:txBody>
      </p:sp>
      <p:sp>
        <p:nvSpPr>
          <p:cNvPr id="38" name="Shape 29"/>
          <p:cNvSpPr/>
          <p:nvPr/>
        </p:nvSpPr>
        <p:spPr>
          <a:xfrm>
            <a:off x="1453896" y="9363456"/>
            <a:ext cx="932688" cy="347472"/>
          </a:xfrm>
          <a:prstGeom prst="roundRect">
            <a:avLst>
              <a:gd name="adj" fmla="val 10526"/>
            </a:avLst>
          </a:prstGeom>
          <a:solidFill>
            <a:srgbClr val="FFFFFF"/>
          </a:solidFill>
          <a:ln w="9525">
            <a:solidFill>
              <a:srgbClr val="CFD4EA"/>
            </a:solidFill>
            <a:prstDash val="dash"/>
          </a:ln>
        </p:spPr>
      </p:sp>
      <p:sp>
        <p:nvSpPr>
          <p:cNvPr id="39" name="Text 30"/>
          <p:cNvSpPr txBox="1"/>
          <p:nvPr/>
        </p:nvSpPr>
        <p:spPr>
          <a:xfrm>
            <a:off x="1453896"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Inter" pitchFamily="34" charset="0"/>
                <a:ea typeface="Inter" pitchFamily="34" charset="-122"/>
                <a:cs typeface="Inter" pitchFamily="34" charset="-120"/>
              </a:rPr>
              <a:t>Society / sponsor logo</a:t>
            </a:r>
            <a:endParaRPr lang="en-US" sz="620" dirty="0"/>
          </a:p>
        </p:txBody>
      </p:sp>
      <p:sp>
        <p:nvSpPr>
          <p:cNvPr id="40" name="Shape 31"/>
          <p:cNvSpPr/>
          <p:nvPr/>
        </p:nvSpPr>
        <p:spPr>
          <a:xfrm>
            <a:off x="2478024" y="9363456"/>
            <a:ext cx="932688" cy="347472"/>
          </a:xfrm>
          <a:prstGeom prst="roundRect">
            <a:avLst>
              <a:gd name="adj" fmla="val 10526"/>
            </a:avLst>
          </a:prstGeom>
          <a:solidFill>
            <a:srgbClr val="FFFFFF"/>
          </a:solidFill>
          <a:ln w="9525">
            <a:solidFill>
              <a:srgbClr val="CFD4EA"/>
            </a:solidFill>
            <a:prstDash val="dash"/>
          </a:ln>
        </p:spPr>
      </p:sp>
      <p:sp>
        <p:nvSpPr>
          <p:cNvPr id="41" name="Text 32"/>
          <p:cNvSpPr txBox="1"/>
          <p:nvPr/>
        </p:nvSpPr>
        <p:spPr>
          <a:xfrm>
            <a:off x="2478024"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Inter" pitchFamily="34" charset="0"/>
                <a:ea typeface="Inter" pitchFamily="34" charset="-122"/>
                <a:cs typeface="Inter" pitchFamily="34" charset="-120"/>
              </a:rPr>
              <a:t>Seoul CVB / KTO logo</a:t>
            </a:r>
            <a:endParaRPr lang="en-US" sz="620" dirty="0"/>
          </a:p>
        </p:txBody>
      </p:sp>
      <p:sp>
        <p:nvSpPr>
          <p:cNvPr id="42" name="Text 33"/>
          <p:cNvSpPr txBox="1"/>
          <p:nvPr/>
        </p:nvSpPr>
        <p:spPr>
          <a:xfrm>
            <a:off x="3931920" y="9326880"/>
            <a:ext cx="3200400" cy="420624"/>
          </a:xfrm>
          <a:prstGeom prst="rect">
            <a:avLst/>
          </a:prstGeom>
          <a:noFill/>
          <a:ln/>
        </p:spPr>
        <p:txBody>
          <a:bodyPr wrap="square" lIns="0" tIns="0" rIns="0" bIns="0" rtlCol="0" anchor="ctr"/>
          <a:lstStyle/>
          <a:p>
            <a:pPr algn="r" indent="0" marL="0">
              <a:buNone/>
            </a:pPr>
            <a:r>
              <a:rPr lang="en-US" sz="610" b="1" dirty="0">
                <a:solidFill>
                  <a:srgbClr val="2C3A7A"/>
                </a:solidFill>
                <a:latin typeface="Inter" pitchFamily="34" charset="0"/>
                <a:ea typeface="Inter" pitchFamily="34" charset="-122"/>
                <a:cs typeface="Inter" pitchFamily="34" charset="-120"/>
              </a:rPr>
              <a:t>Photos: </a:t>
            </a:r>
            <a:pPr algn="r" indent="0" marL="0">
              <a:buNone/>
            </a:pPr>
            <a:r>
              <a:rPr lang="en-US" sz="610" dirty="0">
                <a:solidFill>
                  <a:srgbClr val="5B6079"/>
                </a:solidFill>
                <a:latin typeface="Inter" pitchFamily="34" charset="0"/>
                <a:ea typeface="Inter" pitchFamily="34" charset="-122"/>
                <a:cs typeface="Inter" pitchFamily="34" charset="-120"/>
              </a:rPr>
              <a:t>© Korea Tourism Organization (Photo Korea) – 조한섭, 한국관광공사 카멜프레스, 안형록, 임귀빈, 임태원, 이재국, IR 스튜디오. KOGL Type 1.</a:t>
            </a:r>
            <a:endParaRPr lang="en-US" sz="610" dirty="0"/>
          </a:p>
          <a:p>
            <a:pPr algn="r" indent="0" marL="0">
              <a:buNone/>
            </a:pPr>
            <a:r>
              <a:rPr lang="en-US" sz="610" dirty="0">
                <a:solidFill>
                  <a:srgbClr val="5B6079"/>
                </a:solidFill>
                <a:latin typeface="Inter" pitchFamily="34" charset="0"/>
                <a:ea typeface="Inter" pitchFamily="34" charset="-122"/>
                <a:cs typeface="Inter" pitchFamily="34" charset="-120"/>
              </a:rPr>
              <a:t>Typefaces: Manrope and Inter (SIL Open Font License).</a:t>
            </a:r>
            <a:endParaRPr lang="en-US" sz="61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user/spel-website/ilcec2027/flyer/pptx/photos/hero-back.jpg">    </p:cNvPr>
          <p:cNvPicPr>
            <a:picLocks noChangeAspect="1"/>
          </p:cNvPicPr>
          <p:nvPr>
            <p:ph type="pic" idx="100" hasCustomPrompt="1"/>
          </p:nvPr>
        </p:nvPicPr>
        <p:blipFill>
          <a:blip r:embed="rId1"/>
          <a:stretch>
            <a:fillRect/>
          </a:stretch>
        </p:blipFill>
        <p:spPr>
          <a:xfrm>
            <a:off x="429768" y="393192"/>
            <a:ext cx="6702552" cy="1444752"/>
          </a:xfrm>
          <a:prstGeom prst="roundRect">
            <a:avLst>
              <a:gd name="adj" fmla="val 5063"/>
            </a:avLst>
          </a:prstGeom>
        </p:spPr>
      </p:pic>
      <p:sp>
        <p:nvSpPr>
          <p:cNvPr id="3" name="Text 0"/>
          <p:cNvSpPr txBox="1"/>
          <p:nvPr/>
        </p:nvSpPr>
        <p:spPr>
          <a:xfrm>
            <a:off x="594360" y="1536192"/>
            <a:ext cx="1920240" cy="228600"/>
          </a:xfrm>
          <a:prstGeom prst="rect">
            <a:avLst/>
          </a:prstGeom>
          <a:solidFill>
            <a:srgbClr val="1B2450">
              <a:alpha val="55000"/>
            </a:srgbClr>
          </a:solidFill>
          <a:ln w="6350">
            <a:solidFill>
              <a:srgbClr val="FFFFFF">
                <a:alpha val="55000"/>
              </a:srgbClr>
            </a:solidFill>
          </a:ln>
        </p:spPr>
        <p:txBody>
          <a:bodyPr wrap="square" lIns="0" tIns="76200" rIns="76200" bIns="0" rtlCol="0" anchor="ctr"/>
          <a:lstStyle/>
          <a:p>
            <a:pPr indent="0" marL="0">
              <a:buNone/>
            </a:pPr>
            <a:r>
              <a:rPr lang="en-US" sz="800" b="1" spc="300" kern="0" dirty="0">
                <a:solidFill>
                  <a:srgbClr val="FFFFFF"/>
                </a:solidFill>
                <a:latin typeface="Manrope" pitchFamily="34" charset="0"/>
                <a:ea typeface="Manrope" pitchFamily="34" charset="-122"/>
                <a:cs typeface="Manrope" pitchFamily="34" charset="-120"/>
              </a:rPr>
              <a:t>SEOUL  ·  KOREA  ·  2027</a:t>
            </a:r>
            <a:endParaRPr lang="en-US" sz="800" dirty="0"/>
          </a:p>
        </p:txBody>
      </p:sp>
      <p:pic>
        <p:nvPicPr>
          <p:cNvPr id="4" name="Image 1" descr="/home/user/spel-website/ilcec2027/flyer/pptx/motif.png">    </p:cNvPr>
          <p:cNvPicPr>
            <a:picLocks noChangeAspect="1"/>
          </p:cNvPicPr>
          <p:nvPr/>
        </p:nvPicPr>
        <p:blipFill>
          <a:blip r:embed="rId2"/>
          <a:stretch>
            <a:fillRect/>
          </a:stretch>
        </p:blipFill>
        <p:spPr>
          <a:xfrm>
            <a:off x="5989320" y="18288"/>
            <a:ext cx="1417320" cy="1417320"/>
          </a:xfrm>
          <a:prstGeom prst="rect">
            <a:avLst/>
          </a:prstGeom>
        </p:spPr>
      </p:pic>
      <p:pic>
        <p:nvPicPr>
          <p:cNvPr id="5" name="Image 2" descr="/home/user/spel-website/ilcec2027/flyer/pptx/motif2.png">    </p:cNvPr>
          <p:cNvPicPr>
            <a:picLocks noChangeAspect="1"/>
          </p:cNvPicPr>
          <p:nvPr/>
        </p:nvPicPr>
        <p:blipFill>
          <a:blip r:embed="rId3"/>
          <a:stretch>
            <a:fillRect/>
          </a:stretch>
        </p:blipFill>
        <p:spPr>
          <a:xfrm>
            <a:off x="4645152" y="1645920"/>
            <a:ext cx="502920" cy="502920"/>
          </a:xfrm>
          <a:prstGeom prst="rect">
            <a:avLst/>
          </a:prstGeom>
        </p:spPr>
      </p:pic>
      <p:sp>
        <p:nvSpPr>
          <p:cNvPr id="6" name="Text 1"/>
          <p:cNvSpPr txBox="1"/>
          <p:nvPr/>
        </p:nvSpPr>
        <p:spPr>
          <a:xfrm>
            <a:off x="429768" y="1993392"/>
            <a:ext cx="4663440" cy="868680"/>
          </a:xfrm>
          <a:prstGeom prst="rect">
            <a:avLst/>
          </a:prstGeom>
          <a:noFill/>
          <a:ln/>
        </p:spPr>
        <p:txBody>
          <a:bodyPr wrap="square" lIns="0" tIns="0" rIns="0" bIns="0" rtlCol="0" anchor="b"/>
          <a:lstStyle/>
          <a:p>
            <a:pPr indent="0" marL="0">
              <a:lnSpc>
                <a:spcPct val="95000"/>
              </a:lnSpc>
              <a:buNone/>
            </a:pPr>
            <a:r>
              <a:rPr lang="en-US" sz="2500" b="1" spc="-40" kern="0" dirty="0">
                <a:solidFill>
                  <a:srgbClr val="1B2450"/>
                </a:solidFill>
                <a:latin typeface="Manrope" pitchFamily="34" charset="0"/>
                <a:ea typeface="Manrope" pitchFamily="34" charset="-122"/>
                <a:cs typeface="Manrope" pitchFamily="34" charset="-120"/>
              </a:rPr>
              <a:t>International Liquid Crystal</a:t>
            </a:r>
            <a:endParaRPr lang="en-US" sz="2500" dirty="0"/>
          </a:p>
          <a:p>
            <a:pPr indent="0" marL="0">
              <a:lnSpc>
                <a:spcPct val="95000"/>
              </a:lnSpc>
              <a:buNone/>
            </a:pPr>
            <a:r>
              <a:rPr lang="en-US" sz="2500" b="1" spc="-40" kern="0" dirty="0">
                <a:solidFill>
                  <a:srgbClr val="1B2450"/>
                </a:solidFill>
                <a:latin typeface="Manrope" pitchFamily="34" charset="0"/>
                <a:ea typeface="Manrope" pitchFamily="34" charset="-122"/>
                <a:cs typeface="Manrope" pitchFamily="34" charset="-120"/>
              </a:rPr>
              <a:t>Elastomer Conference</a:t>
            </a:r>
            <a:endParaRPr lang="en-US" sz="2500" dirty="0"/>
          </a:p>
        </p:txBody>
      </p:sp>
      <p:sp>
        <p:nvSpPr>
          <p:cNvPr id="7" name="Text 2"/>
          <p:cNvSpPr txBox="1"/>
          <p:nvPr/>
        </p:nvSpPr>
        <p:spPr>
          <a:xfrm>
            <a:off x="5138928" y="1993392"/>
            <a:ext cx="2057400" cy="868680"/>
          </a:xfrm>
          <a:prstGeom prst="rect">
            <a:avLst/>
          </a:prstGeom>
          <a:noFill/>
          <a:ln/>
        </p:spPr>
        <p:txBody>
          <a:bodyPr wrap="square" lIns="0" tIns="0" rIns="0" bIns="0" rtlCol="0" anchor="b"/>
          <a:lstStyle/>
          <a:p>
            <a:pPr indent="0" marL="0">
              <a:lnSpc>
                <a:spcPct val="110000"/>
              </a:lnSpc>
              <a:buNone/>
            </a:pPr>
            <a:r>
              <a:rPr lang="en-US" sz="1500" b="1" dirty="0">
                <a:solidFill>
                  <a:srgbClr val="D8432F"/>
                </a:solidFill>
                <a:latin typeface="Manrope" pitchFamily="34" charset="0"/>
                <a:ea typeface="Manrope" pitchFamily="34" charset="-122"/>
                <a:cs typeface="Manrope" pitchFamily="34" charset="-120"/>
              </a:rPr>
              <a:t>ILCEC 2027</a:t>
            </a:r>
            <a:endParaRPr lang="en-US" sz="1500" dirty="0"/>
          </a:p>
          <a:p>
            <a:pPr indent="0" marL="0">
              <a:lnSpc>
                <a:spcPct val="110000"/>
              </a:lnSpc>
              <a:buNone/>
            </a:pPr>
            <a:r>
              <a:rPr lang="en-US" sz="1050" b="1" dirty="0">
                <a:solidFill>
                  <a:srgbClr val="2C3A7A"/>
                </a:solidFill>
                <a:latin typeface="Manrope" pitchFamily="34" charset="0"/>
                <a:ea typeface="Manrope" pitchFamily="34" charset="-122"/>
                <a:cs typeface="Manrope" pitchFamily="34" charset="-120"/>
              </a:rPr>
              <a:t>on </a:t>
            </a:r>
            <a:pPr indent="0" marL="0">
              <a:lnSpc>
                <a:spcPct val="110000"/>
              </a:lnSpc>
              <a:buNone/>
            </a:pPr>
            <a:r>
              <a:rPr lang="en-US" sz="1050" b="1" dirty="0">
                <a:solidFill>
                  <a:srgbClr val="B8402F"/>
                </a:solidFill>
                <a:highlight>
                  <a:srgbClr val="FFF1EE"/>
                </a:highlight>
                <a:latin typeface="Manrope" pitchFamily="34" charset="0"/>
                <a:ea typeface="Manrope" pitchFamily="34" charset="-122"/>
                <a:cs typeface="Manrope" pitchFamily="34" charset="-120"/>
              </a:rPr>
              <a:t> DD–DD Month 2027 </a:t>
            </a:r>
            <a:endParaRPr lang="en-US" sz="1500" dirty="0"/>
          </a:p>
          <a:p>
            <a:pPr indent="0" marL="0">
              <a:lnSpc>
                <a:spcPct val="110000"/>
              </a:lnSpc>
              <a:buNone/>
            </a:pPr>
            <a:r>
              <a:rPr lang="en-US" sz="1050" b="1" dirty="0">
                <a:solidFill>
                  <a:srgbClr val="2C3A7A"/>
                </a:solidFill>
                <a:latin typeface="Manrope" pitchFamily="34" charset="0"/>
                <a:ea typeface="Manrope" pitchFamily="34" charset="-122"/>
                <a:cs typeface="Manrope" pitchFamily="34" charset="-120"/>
              </a:rPr>
              <a:t>in Seoul, Republic of Korea</a:t>
            </a:r>
            <a:endParaRPr lang="en-US" sz="1500" dirty="0"/>
          </a:p>
        </p:txBody>
      </p:sp>
      <p:sp>
        <p:nvSpPr>
          <p:cNvPr id="8" name="Text 3"/>
          <p:cNvSpPr txBox="1"/>
          <p:nvPr/>
        </p:nvSpPr>
        <p:spPr>
          <a:xfrm rot="2700000">
            <a:off x="6053328" y="420624"/>
            <a:ext cx="2011680" cy="237744"/>
          </a:xfrm>
          <a:prstGeom prst="rect">
            <a:avLst/>
          </a:prstGeom>
          <a:solidFill>
            <a:srgbClr val="D8432F"/>
          </a:solidFill>
          <a:ln/>
          <a:effectLst>
            <a:outerShdw sx="100000" sy="100000" kx="0" ky="0" algn="bl" rotWithShape="0" blurRad="38100" dist="12700" dir="5400000">
              <a:srgbClr val="000000">
                <a:alpha val="25000"/>
              </a:srgbClr>
            </a:outerShdw>
          </a:effectLst>
        </p:spPr>
        <p:txBody>
          <a:bodyPr wrap="square" lIns="0" tIns="0" rIns="0" bIns="0" rtlCol="0" anchor="ctr"/>
          <a:lstStyle/>
          <a:p>
            <a:pPr algn="ctr" indent="0" marL="0">
              <a:buNone/>
            </a:pPr>
            <a:r>
              <a:rPr lang="en-US" sz="750" b="1" spc="300" kern="0" dirty="0">
                <a:solidFill>
                  <a:srgbClr val="FFFFFF"/>
                </a:solidFill>
                <a:latin typeface="Manrope" pitchFamily="34" charset="0"/>
                <a:ea typeface="Manrope" pitchFamily="34" charset="-122"/>
                <a:cs typeface="Manrope" pitchFamily="34" charset="-120"/>
              </a:rPr>
              <a:t>DRAFT · TBD</a:t>
            </a:r>
            <a:endParaRPr lang="en-US" sz="750" dirty="0"/>
          </a:p>
        </p:txBody>
      </p:sp>
      <p:sp>
        <p:nvSpPr>
          <p:cNvPr id="9" name="Text 4"/>
          <p:cNvSpPr txBox="1"/>
          <p:nvPr/>
        </p:nvSpPr>
        <p:spPr>
          <a:xfrm>
            <a:off x="429768" y="2980944"/>
            <a:ext cx="6702552" cy="1060704"/>
          </a:xfrm>
          <a:prstGeom prst="rect">
            <a:avLst/>
          </a:prstGeom>
          <a:noFill/>
          <a:ln/>
        </p:spPr>
        <p:txBody>
          <a:bodyPr wrap="square" lIns="0" tIns="0" rIns="0" bIns="0" rtlCol="0" anchor="t"/>
          <a:lstStyle/>
          <a:p>
            <a:pPr indent="0" marL="0">
              <a:lnSpc>
                <a:spcPct val="112000"/>
              </a:lnSpc>
              <a:buNone/>
            </a:pPr>
            <a:r>
              <a:rPr lang="en-US" sz="930" dirty="0">
                <a:solidFill>
                  <a:srgbClr val="2C3A7A"/>
                </a:solidFill>
                <a:latin typeface="Inter" pitchFamily="34" charset="0"/>
                <a:ea typeface="Inter" pitchFamily="34" charset="-122"/>
                <a:cs typeface="Inter" pitchFamily="34" charset="-120"/>
              </a:rPr>
              <a:t>The International Liquid Crystal Elastomer Conference (ILCEC) will be held in </a:t>
            </a:r>
            <a:pPr indent="0" marL="0">
              <a:lnSpc>
                <a:spcPct val="112000"/>
              </a:lnSpc>
              <a:buNone/>
            </a:pPr>
            <a:r>
              <a:rPr lang="en-US" sz="930" b="1" dirty="0">
                <a:solidFill>
                  <a:srgbClr val="1B2450"/>
                </a:solidFill>
                <a:latin typeface="Inter" pitchFamily="34" charset="0"/>
                <a:ea typeface="Inter" pitchFamily="34" charset="-122"/>
                <a:cs typeface="Inter" pitchFamily="34" charset="-120"/>
              </a:rPr>
              <a:t>2027 at the Royal Hotel Seoul, Myeongdong</a:t>
            </a:r>
            <a:pPr indent="0" marL="0">
              <a:lnSpc>
                <a:spcPct val="112000"/>
              </a:lnSpc>
              <a:buNone/>
            </a:pPr>
            <a:r>
              <a:rPr lang="en-US" sz="930" dirty="0">
                <a:solidFill>
                  <a:srgbClr val="2C3A7A"/>
                </a:solidFill>
                <a:latin typeface="Inter" pitchFamily="34" charset="0"/>
                <a:ea typeface="Inter" pitchFamily="34" charset="-122"/>
                <a:cs typeface="Inter" pitchFamily="34" charset="-120"/>
              </a:rPr>
              <a:t>, in the heart of Seoul, Republic of Korea. Following ILCEC 2025 in Tampere, ILCEC 2027 will bring together chemists, physicists and engineers to share fundamental advances and application opportunities for this exciting class of materials. The conference will cover, but is not limited to, dynamic and multiresponsive LCEs, soft mechanics and actuation, 4D printing, feedback-driven and autonomous motion, tunable photonics, and novel behaviour and functions of LCEs. Contributions on related stimuli-responsive soft materials are also welcome. We hope you will consider joining us in Seoul!</a:t>
            </a:r>
            <a:endParaRPr lang="en-US" sz="930" dirty="0"/>
          </a:p>
        </p:txBody>
      </p:sp>
      <p:sp>
        <p:nvSpPr>
          <p:cNvPr id="10" name="Text 5"/>
          <p:cNvSpPr txBox="1"/>
          <p:nvPr/>
        </p:nvSpPr>
        <p:spPr>
          <a:xfrm>
            <a:off x="429768" y="416052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Manrope" pitchFamily="34" charset="0"/>
                <a:ea typeface="Manrope" pitchFamily="34" charset="-122"/>
                <a:cs typeface="Manrope" pitchFamily="34" charset="-120"/>
              </a:rPr>
              <a:t>Chairs</a:t>
            </a:r>
            <a:endParaRPr lang="en-US" sz="860" dirty="0"/>
          </a:p>
        </p:txBody>
      </p:sp>
      <p:sp>
        <p:nvSpPr>
          <p:cNvPr id="11" name="Text 6"/>
          <p:cNvSpPr txBox="1"/>
          <p:nvPr/>
        </p:nvSpPr>
        <p:spPr>
          <a:xfrm>
            <a:off x="429768" y="4361688"/>
            <a:ext cx="3218688" cy="310896"/>
          </a:xfrm>
          <a:prstGeom prst="rect">
            <a:avLst/>
          </a:prstGeom>
          <a:noFill/>
          <a:ln/>
        </p:spPr>
        <p:txBody>
          <a:bodyPr wrap="square" lIns="0" tIns="0" rIns="0" bIns="0" rtlCol="0" anchor="t"/>
          <a:lstStyle/>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Chair name </a:t>
            </a:r>
            <a:pPr indent="0" marL="0">
              <a:spcAft>
                <a:spcPts val="200"/>
              </a:spcAft>
              <a:buNone/>
            </a:pPr>
            <a:r>
              <a:rPr lang="en-US" sz="760" dirty="0">
                <a:solidFill>
                  <a:srgbClr val="262B3D"/>
                </a:solidFill>
                <a:latin typeface="Inter" pitchFamily="34" charset="0"/>
                <a:ea typeface="Inter" pitchFamily="34" charset="-122"/>
                <a:cs typeface="Inter" pitchFamily="34" charset="-120"/>
              </a:rPr>
              <a:t>, </a:t>
            </a:r>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Affiliation </a:t>
            </a:r>
            <a:pPr indent="0" marL="0">
              <a:spcAft>
                <a:spcPts val="200"/>
              </a:spcAft>
              <a:buNone/>
            </a:pPr>
            <a:endParaRPr lang="en-US" sz="760" dirty="0"/>
          </a:p>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Co-chair name </a:t>
            </a:r>
            <a:pPr indent="0" marL="0">
              <a:spcAft>
                <a:spcPts val="200"/>
              </a:spcAft>
              <a:buNone/>
            </a:pPr>
            <a:r>
              <a:rPr lang="en-US" sz="760" dirty="0">
                <a:solidFill>
                  <a:srgbClr val="262B3D"/>
                </a:solidFill>
                <a:latin typeface="Inter" pitchFamily="34" charset="0"/>
                <a:ea typeface="Inter" pitchFamily="34" charset="-122"/>
                <a:cs typeface="Inter" pitchFamily="34" charset="-120"/>
              </a:rPr>
              <a:t>, </a:t>
            </a:r>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Affiliation </a:t>
            </a:r>
            <a:endParaRPr lang="en-US" sz="760" dirty="0"/>
          </a:p>
        </p:txBody>
      </p:sp>
      <p:sp>
        <p:nvSpPr>
          <p:cNvPr id="12" name="Text 7"/>
          <p:cNvSpPr txBox="1"/>
          <p:nvPr/>
        </p:nvSpPr>
        <p:spPr>
          <a:xfrm>
            <a:off x="429768" y="4727448"/>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Manrope" pitchFamily="34" charset="0"/>
                <a:ea typeface="Manrope" pitchFamily="34" charset="-122"/>
                <a:cs typeface="Manrope" pitchFamily="34" charset="-120"/>
              </a:rPr>
              <a:t>Organizing committee</a:t>
            </a:r>
            <a:endParaRPr lang="en-US" sz="860" dirty="0"/>
          </a:p>
        </p:txBody>
      </p:sp>
      <p:sp>
        <p:nvSpPr>
          <p:cNvPr id="13" name="Text 8"/>
          <p:cNvSpPr txBox="1"/>
          <p:nvPr/>
        </p:nvSpPr>
        <p:spPr>
          <a:xfrm>
            <a:off x="429768" y="4928616"/>
            <a:ext cx="3218688" cy="438912"/>
          </a:xfrm>
          <a:prstGeom prst="rect">
            <a:avLst/>
          </a:prstGeom>
          <a:noFill/>
          <a:ln/>
        </p:spPr>
        <p:txBody>
          <a:bodyPr wrap="square" lIns="0" tIns="0" rIns="0" bIns="0" rtlCol="0" anchor="t"/>
          <a:lstStyle/>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Member </a:t>
            </a:r>
            <a:pPr indent="0" marL="0">
              <a:spcAft>
                <a:spcPts val="200"/>
              </a:spcAft>
              <a:buNone/>
            </a:pPr>
            <a:r>
              <a:rPr lang="en-US" sz="760" dirty="0">
                <a:solidFill>
                  <a:srgbClr val="262B3D"/>
                </a:solidFill>
                <a:latin typeface="Inter" pitchFamily="34" charset="0"/>
                <a:ea typeface="Inter" pitchFamily="34" charset="-122"/>
                <a:cs typeface="Inter" pitchFamily="34" charset="-120"/>
              </a:rPr>
              <a:t>, </a:t>
            </a:r>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Affiliation </a:t>
            </a:r>
            <a:pPr indent="0" marL="0">
              <a:spcAft>
                <a:spcPts val="200"/>
              </a:spcAft>
              <a:buNone/>
            </a:pPr>
            <a:endParaRPr lang="en-US" sz="760" dirty="0"/>
          </a:p>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Member </a:t>
            </a:r>
            <a:pPr indent="0" marL="0">
              <a:spcAft>
                <a:spcPts val="200"/>
              </a:spcAft>
              <a:buNone/>
            </a:pPr>
            <a:r>
              <a:rPr lang="en-US" sz="760" dirty="0">
                <a:solidFill>
                  <a:srgbClr val="262B3D"/>
                </a:solidFill>
                <a:latin typeface="Inter" pitchFamily="34" charset="0"/>
                <a:ea typeface="Inter" pitchFamily="34" charset="-122"/>
                <a:cs typeface="Inter" pitchFamily="34" charset="-120"/>
              </a:rPr>
              <a:t>, </a:t>
            </a:r>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Affiliation </a:t>
            </a:r>
            <a:pPr indent="0" marL="0">
              <a:spcAft>
                <a:spcPts val="200"/>
              </a:spcAft>
              <a:buNone/>
            </a:pPr>
            <a:endParaRPr lang="en-US" sz="760" dirty="0"/>
          </a:p>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Member </a:t>
            </a:r>
            <a:pPr indent="0" marL="0">
              <a:spcAft>
                <a:spcPts val="200"/>
              </a:spcAft>
              <a:buNone/>
            </a:pPr>
            <a:r>
              <a:rPr lang="en-US" sz="760" dirty="0">
                <a:solidFill>
                  <a:srgbClr val="262B3D"/>
                </a:solidFill>
                <a:latin typeface="Inter" pitchFamily="34" charset="0"/>
                <a:ea typeface="Inter" pitchFamily="34" charset="-122"/>
                <a:cs typeface="Inter" pitchFamily="34" charset="-120"/>
              </a:rPr>
              <a:t>, </a:t>
            </a:r>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Affiliation </a:t>
            </a:r>
            <a:endParaRPr lang="en-US" sz="760" dirty="0"/>
          </a:p>
        </p:txBody>
      </p:sp>
      <p:sp>
        <p:nvSpPr>
          <p:cNvPr id="14" name="Text 9"/>
          <p:cNvSpPr txBox="1"/>
          <p:nvPr/>
        </p:nvSpPr>
        <p:spPr>
          <a:xfrm>
            <a:off x="429768" y="5422392"/>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Manrope" pitchFamily="34" charset="0"/>
                <a:ea typeface="Manrope" pitchFamily="34" charset="-122"/>
                <a:cs typeface="Manrope" pitchFamily="34" charset="-120"/>
              </a:rPr>
              <a:t>International program committee</a:t>
            </a:r>
            <a:endParaRPr lang="en-US" sz="860" dirty="0"/>
          </a:p>
        </p:txBody>
      </p:sp>
      <p:sp>
        <p:nvSpPr>
          <p:cNvPr id="15" name="Text 10"/>
          <p:cNvSpPr txBox="1"/>
          <p:nvPr/>
        </p:nvSpPr>
        <p:spPr>
          <a:xfrm>
            <a:off x="429768" y="5623560"/>
            <a:ext cx="3218688" cy="859536"/>
          </a:xfrm>
          <a:prstGeom prst="rect">
            <a:avLst/>
          </a:prstGeom>
          <a:noFill/>
          <a:ln/>
        </p:spPr>
        <p:txBody>
          <a:bodyPr wrap="square" lIns="0" tIns="0" rIns="0" bIns="0" rtlCol="0" anchor="t"/>
          <a:lstStyle/>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Member </a:t>
            </a:r>
            <a:pPr indent="0" marL="0">
              <a:spcAft>
                <a:spcPts val="200"/>
              </a:spcAft>
              <a:buNone/>
            </a:pPr>
            <a:r>
              <a:rPr lang="en-US" sz="760" dirty="0">
                <a:solidFill>
                  <a:srgbClr val="262B3D"/>
                </a:solidFill>
                <a:latin typeface="Inter" pitchFamily="34" charset="0"/>
                <a:ea typeface="Inter" pitchFamily="34" charset="-122"/>
                <a:cs typeface="Inter" pitchFamily="34" charset="-120"/>
              </a:rPr>
              <a:t>, </a:t>
            </a:r>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Affiliation, Country </a:t>
            </a:r>
            <a:pPr indent="0" marL="0">
              <a:spcAft>
                <a:spcPts val="200"/>
              </a:spcAft>
              <a:buNone/>
            </a:pPr>
            <a:endParaRPr lang="en-US" sz="760" dirty="0"/>
          </a:p>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Member </a:t>
            </a:r>
            <a:pPr indent="0" marL="0">
              <a:spcAft>
                <a:spcPts val="200"/>
              </a:spcAft>
              <a:buNone/>
            </a:pPr>
            <a:r>
              <a:rPr lang="en-US" sz="760" dirty="0">
                <a:solidFill>
                  <a:srgbClr val="262B3D"/>
                </a:solidFill>
                <a:latin typeface="Inter" pitchFamily="34" charset="0"/>
                <a:ea typeface="Inter" pitchFamily="34" charset="-122"/>
                <a:cs typeface="Inter" pitchFamily="34" charset="-120"/>
              </a:rPr>
              <a:t>, </a:t>
            </a:r>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Affiliation, Country </a:t>
            </a:r>
            <a:pPr indent="0" marL="0">
              <a:spcAft>
                <a:spcPts val="200"/>
              </a:spcAft>
              <a:buNone/>
            </a:pPr>
            <a:endParaRPr lang="en-US" sz="760" dirty="0"/>
          </a:p>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Member </a:t>
            </a:r>
            <a:pPr indent="0" marL="0">
              <a:spcAft>
                <a:spcPts val="200"/>
              </a:spcAft>
              <a:buNone/>
            </a:pPr>
            <a:r>
              <a:rPr lang="en-US" sz="760" dirty="0">
                <a:solidFill>
                  <a:srgbClr val="262B3D"/>
                </a:solidFill>
                <a:latin typeface="Inter" pitchFamily="34" charset="0"/>
                <a:ea typeface="Inter" pitchFamily="34" charset="-122"/>
                <a:cs typeface="Inter" pitchFamily="34" charset="-120"/>
              </a:rPr>
              <a:t>, </a:t>
            </a:r>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Affiliation, Country </a:t>
            </a:r>
            <a:pPr indent="0" marL="0">
              <a:spcAft>
                <a:spcPts val="200"/>
              </a:spcAft>
              <a:buNone/>
            </a:pPr>
            <a:endParaRPr lang="en-US" sz="760" dirty="0"/>
          </a:p>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Member </a:t>
            </a:r>
            <a:pPr indent="0" marL="0">
              <a:spcAft>
                <a:spcPts val="200"/>
              </a:spcAft>
              <a:buNone/>
            </a:pPr>
            <a:r>
              <a:rPr lang="en-US" sz="760" dirty="0">
                <a:solidFill>
                  <a:srgbClr val="262B3D"/>
                </a:solidFill>
                <a:latin typeface="Inter" pitchFamily="34" charset="0"/>
                <a:ea typeface="Inter" pitchFamily="34" charset="-122"/>
                <a:cs typeface="Inter" pitchFamily="34" charset="-120"/>
              </a:rPr>
              <a:t>, </a:t>
            </a:r>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Affiliation, Country </a:t>
            </a:r>
            <a:pPr indent="0" marL="0">
              <a:spcAft>
                <a:spcPts val="200"/>
              </a:spcAft>
              <a:buNone/>
            </a:pPr>
            <a:endParaRPr lang="en-US" sz="760" dirty="0"/>
          </a:p>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Member </a:t>
            </a:r>
            <a:pPr indent="0" marL="0">
              <a:spcAft>
                <a:spcPts val="200"/>
              </a:spcAft>
              <a:buNone/>
            </a:pPr>
            <a:r>
              <a:rPr lang="en-US" sz="760" dirty="0">
                <a:solidFill>
                  <a:srgbClr val="262B3D"/>
                </a:solidFill>
                <a:latin typeface="Inter" pitchFamily="34" charset="0"/>
                <a:ea typeface="Inter" pitchFamily="34" charset="-122"/>
                <a:cs typeface="Inter" pitchFamily="34" charset="-120"/>
              </a:rPr>
              <a:t>, </a:t>
            </a:r>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Affiliation, Country </a:t>
            </a:r>
            <a:pPr indent="0" marL="0">
              <a:spcAft>
                <a:spcPts val="200"/>
              </a:spcAft>
              <a:buNone/>
            </a:pPr>
            <a:endParaRPr lang="en-US" sz="760" dirty="0"/>
          </a:p>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Member </a:t>
            </a:r>
            <a:pPr indent="0" marL="0">
              <a:spcAft>
                <a:spcPts val="200"/>
              </a:spcAft>
              <a:buNone/>
            </a:pPr>
            <a:r>
              <a:rPr lang="en-US" sz="760" dirty="0">
                <a:solidFill>
                  <a:srgbClr val="262B3D"/>
                </a:solidFill>
                <a:latin typeface="Inter" pitchFamily="34" charset="0"/>
                <a:ea typeface="Inter" pitchFamily="34" charset="-122"/>
                <a:cs typeface="Inter" pitchFamily="34" charset="-120"/>
              </a:rPr>
              <a:t>, </a:t>
            </a:r>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Affiliation, Country </a:t>
            </a:r>
            <a:endParaRPr lang="en-US" sz="760" dirty="0"/>
          </a:p>
        </p:txBody>
      </p:sp>
      <p:sp>
        <p:nvSpPr>
          <p:cNvPr id="16" name="Text 11"/>
          <p:cNvSpPr txBox="1"/>
          <p:nvPr/>
        </p:nvSpPr>
        <p:spPr>
          <a:xfrm>
            <a:off x="429768" y="653796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Manrope" pitchFamily="34" charset="0"/>
                <a:ea typeface="Manrope" pitchFamily="34" charset="-122"/>
                <a:cs typeface="Manrope" pitchFamily="34" charset="-120"/>
              </a:rPr>
              <a:t>Contact</a:t>
            </a:r>
            <a:endParaRPr lang="en-US" sz="860" dirty="0"/>
          </a:p>
        </p:txBody>
      </p:sp>
      <p:sp>
        <p:nvSpPr>
          <p:cNvPr id="17" name="Text 12"/>
          <p:cNvSpPr txBox="1"/>
          <p:nvPr/>
        </p:nvSpPr>
        <p:spPr>
          <a:xfrm>
            <a:off x="429768" y="6739128"/>
            <a:ext cx="3218688" cy="310896"/>
          </a:xfrm>
          <a:prstGeom prst="rect">
            <a:avLst/>
          </a:prstGeom>
          <a:noFill/>
          <a:ln/>
        </p:spPr>
        <p:txBody>
          <a:bodyPr wrap="square" lIns="0" tIns="0" rIns="0" bIns="0" rtlCol="0" anchor="t"/>
          <a:lstStyle/>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Coordinator name </a:t>
            </a:r>
            <a:pPr indent="0" marL="0">
              <a:spcAft>
                <a:spcPts val="200"/>
              </a:spcAft>
              <a:buNone/>
            </a:pPr>
            <a:r>
              <a:rPr lang="en-US" sz="760" dirty="0">
                <a:solidFill>
                  <a:srgbClr val="262B3D"/>
                </a:solidFill>
                <a:latin typeface="Inter" pitchFamily="34" charset="0"/>
                <a:ea typeface="Inter" pitchFamily="34" charset="-122"/>
                <a:cs typeface="Inter" pitchFamily="34" charset="-120"/>
              </a:rPr>
              <a:t>, conference coordinator</a:t>
            </a:r>
            <a:pPr indent="0" marL="0">
              <a:spcAft>
                <a:spcPts val="200"/>
              </a:spcAft>
              <a:buNone/>
            </a:pPr>
            <a:endParaRPr lang="en-US" sz="760" dirty="0"/>
          </a:p>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ilcec2027@___.ac.kr </a:t>
            </a:r>
            <a:endParaRPr lang="en-US" sz="760" dirty="0"/>
          </a:p>
        </p:txBody>
      </p:sp>
      <p:sp>
        <p:nvSpPr>
          <p:cNvPr id="18" name="Text 13"/>
          <p:cNvSpPr txBox="1"/>
          <p:nvPr/>
        </p:nvSpPr>
        <p:spPr>
          <a:xfrm>
            <a:off x="429768" y="7104888"/>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Manrope" pitchFamily="34" charset="0"/>
                <a:ea typeface="Manrope" pitchFamily="34" charset="-122"/>
                <a:cs typeface="Manrope" pitchFamily="34" charset="-120"/>
              </a:rPr>
              <a:t>Webpage</a:t>
            </a:r>
            <a:endParaRPr lang="en-US" sz="860" dirty="0"/>
          </a:p>
        </p:txBody>
      </p:sp>
      <p:sp>
        <p:nvSpPr>
          <p:cNvPr id="19" name="Text 14"/>
          <p:cNvSpPr txBox="1"/>
          <p:nvPr/>
        </p:nvSpPr>
        <p:spPr>
          <a:xfrm>
            <a:off x="429768" y="7306056"/>
            <a:ext cx="3218688" cy="182880"/>
          </a:xfrm>
          <a:prstGeom prst="rect">
            <a:avLst/>
          </a:prstGeom>
          <a:noFill/>
          <a:ln/>
        </p:spPr>
        <p:txBody>
          <a:bodyPr wrap="square" lIns="0" tIns="0" rIns="0" bIns="0" rtlCol="0" anchor="t"/>
          <a:lstStyle/>
          <a:p>
            <a:pPr indent="0" marL="0">
              <a:spcAft>
                <a:spcPts val="2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https://ilcec2027.___ </a:t>
            </a:r>
            <a:endParaRPr lang="en-US" sz="760" dirty="0"/>
          </a:p>
        </p:txBody>
      </p:sp>
      <p:pic>
        <p:nvPicPr>
          <p:cNvPr id="20" name="Image 3" descr="/home/user/spel-website/ilcec2027/flyer/pptx/photos/p-bukchon.jpg">    </p:cNvPr>
          <p:cNvPicPr>
            <a:picLocks noChangeAspect="1"/>
          </p:cNvPicPr>
          <p:nvPr>
            <p:ph type="pic" idx="101" hasCustomPrompt="1"/>
          </p:nvPr>
        </p:nvPicPr>
        <p:blipFill>
          <a:blip r:embed="rId4"/>
          <a:stretch>
            <a:fillRect/>
          </a:stretch>
        </p:blipFill>
        <p:spPr>
          <a:xfrm>
            <a:off x="429768" y="7818120"/>
            <a:ext cx="1563624" cy="1280160"/>
          </a:xfrm>
          <a:prstGeom prst="roundRect">
            <a:avLst>
              <a:gd name="adj" fmla="val 5714"/>
            </a:avLst>
          </a:prstGeom>
        </p:spPr>
      </p:pic>
      <p:pic>
        <p:nvPicPr>
          <p:cNvPr id="21" name="Image 4" descr="/home/user/spel-website/ilcec2027/flyer/pptx/photos/p-gyeonghoeru.jpg">    </p:cNvPr>
          <p:cNvPicPr>
            <a:picLocks noChangeAspect="1"/>
          </p:cNvPicPr>
          <p:nvPr>
            <p:ph type="pic" idx="102" hasCustomPrompt="1"/>
          </p:nvPr>
        </p:nvPicPr>
        <p:blipFill>
          <a:blip r:embed="rId5"/>
          <a:stretch>
            <a:fillRect/>
          </a:stretch>
        </p:blipFill>
        <p:spPr>
          <a:xfrm>
            <a:off x="2084832" y="7818120"/>
            <a:ext cx="1563624" cy="1280160"/>
          </a:xfrm>
          <a:prstGeom prst="roundRect">
            <a:avLst>
              <a:gd name="adj" fmla="val 5714"/>
            </a:avLst>
          </a:prstGeom>
        </p:spPr>
      </p:pic>
      <p:sp>
        <p:nvSpPr>
          <p:cNvPr id="22" name="Text 15"/>
          <p:cNvSpPr txBox="1"/>
          <p:nvPr/>
        </p:nvSpPr>
        <p:spPr>
          <a:xfrm>
            <a:off x="3913632" y="416052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Manrope" pitchFamily="34" charset="0"/>
                <a:ea typeface="Manrope" pitchFamily="34" charset="-122"/>
                <a:cs typeface="Manrope" pitchFamily="34" charset="-120"/>
              </a:rPr>
              <a:t>Venue</a:t>
            </a:r>
            <a:endParaRPr lang="en-US" sz="860" dirty="0"/>
          </a:p>
        </p:txBody>
      </p:sp>
      <p:sp>
        <p:nvSpPr>
          <p:cNvPr id="23" name="Text 16"/>
          <p:cNvSpPr txBox="1"/>
          <p:nvPr/>
        </p:nvSpPr>
        <p:spPr>
          <a:xfrm>
            <a:off x="3913632" y="4361688"/>
            <a:ext cx="3218688" cy="1097280"/>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Inter" pitchFamily="34" charset="0"/>
                <a:ea typeface="Inter" pitchFamily="34" charset="-122"/>
                <a:cs typeface="Inter" pitchFamily="34" charset="-120"/>
              </a:rPr>
              <a:t>The conference takes place at the </a:t>
            </a:r>
            <a:pPr indent="0" marL="0">
              <a:spcAft>
                <a:spcPts val="200"/>
              </a:spcAft>
              <a:buNone/>
            </a:pPr>
            <a:r>
              <a:rPr lang="en-US" sz="760" b="1" dirty="0">
                <a:solidFill>
                  <a:srgbClr val="1B2450"/>
                </a:solidFill>
                <a:latin typeface="Inter" pitchFamily="34" charset="0"/>
                <a:ea typeface="Inter" pitchFamily="34" charset="-122"/>
                <a:cs typeface="Inter" pitchFamily="34" charset="-120"/>
              </a:rPr>
              <a:t>Royal Hotel Seoul</a:t>
            </a:r>
            <a:pPr indent="0" marL="0">
              <a:spcAft>
                <a:spcPts val="200"/>
              </a:spcAft>
              <a:buNone/>
            </a:pPr>
            <a:r>
              <a:rPr lang="en-US" sz="760" dirty="0">
                <a:solidFill>
                  <a:srgbClr val="262B3D"/>
                </a:solidFill>
                <a:latin typeface="Inter" pitchFamily="34" charset="0"/>
                <a:ea typeface="Inter" pitchFamily="34" charset="-122"/>
                <a:cs typeface="Inter" pitchFamily="34" charset="-120"/>
              </a:rPr>
              <a:t> (61 Myeongdong-gil, Jung-gu) in the heart of Myeongdong, Seoul's most vibrant shopping and dining district, next to Myeongdong Cathedral and a few minutes' walk from Myeongdong and Euljiro 1-ga subway stations. Seoul is a city of 10 million where 600-year-old royal palaces and hanok villages sit beside a global hub of semiconductor, display and soft-materials research. Gyeongbokgung Palace, Bukchon Hanok Village, Namsan and the Cheonggyecheon stream are all within easy reach of the venue.</a:t>
            </a:r>
            <a:endParaRPr lang="en-US" sz="760" dirty="0"/>
          </a:p>
        </p:txBody>
      </p:sp>
      <p:sp>
        <p:nvSpPr>
          <p:cNvPr id="24" name="Text 17"/>
          <p:cNvSpPr txBox="1"/>
          <p:nvPr/>
        </p:nvSpPr>
        <p:spPr>
          <a:xfrm>
            <a:off x="3913632" y="5495544"/>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Manrope" pitchFamily="34" charset="0"/>
                <a:ea typeface="Manrope" pitchFamily="34" charset="-122"/>
                <a:cs typeface="Manrope" pitchFamily="34" charset="-120"/>
              </a:rPr>
              <a:t>Getting there</a:t>
            </a:r>
            <a:endParaRPr lang="en-US" sz="860" dirty="0"/>
          </a:p>
        </p:txBody>
      </p:sp>
      <p:sp>
        <p:nvSpPr>
          <p:cNvPr id="25" name="Text 18"/>
          <p:cNvSpPr txBox="1"/>
          <p:nvPr/>
        </p:nvSpPr>
        <p:spPr>
          <a:xfrm>
            <a:off x="3913632" y="5696712"/>
            <a:ext cx="3218688" cy="384048"/>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Inter" pitchFamily="34" charset="0"/>
                <a:ea typeface="Inter" pitchFamily="34" charset="-122"/>
                <a:cs typeface="Inter" pitchFamily="34" charset="-120"/>
              </a:rPr>
              <a:t>Incheon International Airport (ICN) is linked to Seoul Station by the AREX express train (about 45 min); the venue is then one subway stop or a 10-minute taxi ride away.</a:t>
            </a:r>
            <a:endParaRPr lang="en-US" sz="760" dirty="0"/>
          </a:p>
        </p:txBody>
      </p:sp>
      <p:sp>
        <p:nvSpPr>
          <p:cNvPr id="26" name="Text 19"/>
          <p:cNvSpPr txBox="1"/>
          <p:nvPr/>
        </p:nvSpPr>
        <p:spPr>
          <a:xfrm>
            <a:off x="3913632" y="6099048"/>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Manrope" pitchFamily="34" charset="0"/>
                <a:ea typeface="Manrope" pitchFamily="34" charset="-122"/>
                <a:cs typeface="Manrope" pitchFamily="34" charset="-120"/>
              </a:rPr>
              <a:t>Accommodation</a:t>
            </a:r>
            <a:endParaRPr lang="en-US" sz="860" dirty="0"/>
          </a:p>
        </p:txBody>
      </p:sp>
      <p:sp>
        <p:nvSpPr>
          <p:cNvPr id="27" name="Text 20"/>
          <p:cNvSpPr txBox="1"/>
          <p:nvPr/>
        </p:nvSpPr>
        <p:spPr>
          <a:xfrm>
            <a:off x="3913632" y="6300216"/>
            <a:ext cx="3218688" cy="502920"/>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Inter" pitchFamily="34" charset="0"/>
                <a:ea typeface="Inter" pitchFamily="34" charset="-122"/>
                <a:cs typeface="Inter" pitchFamily="34" charset="-120"/>
              </a:rPr>
              <a:t>A block of rooms at a conference rate will be pre-reserved at the Royal Hotel Seoul. Myeongdong offers a very wide range of hotels and guesthouses at every price level within walking distance of the venue; details will follow in the 2nd announcement.</a:t>
            </a:r>
            <a:endParaRPr lang="en-US" sz="760" dirty="0"/>
          </a:p>
        </p:txBody>
      </p:sp>
      <p:sp>
        <p:nvSpPr>
          <p:cNvPr id="28" name="Text 21"/>
          <p:cNvSpPr txBox="1"/>
          <p:nvPr/>
        </p:nvSpPr>
        <p:spPr>
          <a:xfrm>
            <a:off x="3913632" y="681228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Manrope" pitchFamily="34" charset="0"/>
                <a:ea typeface="Manrope" pitchFamily="34" charset="-122"/>
                <a:cs typeface="Manrope" pitchFamily="34" charset="-120"/>
              </a:rPr>
              <a:t>Social program </a:t>
            </a:r>
            <a:pPr indent="0" marL="0">
              <a:buNone/>
            </a:pPr>
            <a:r>
              <a:rPr lang="en-US" sz="700" b="1" dirty="0">
                <a:solidFill>
                  <a:srgbClr val="5B6079"/>
                </a:solidFill>
                <a:latin typeface="Inter" pitchFamily="34" charset="0"/>
                <a:ea typeface="Inter" pitchFamily="34" charset="-122"/>
                <a:cs typeface="Inter" pitchFamily="34" charset="-120"/>
              </a:rPr>
              <a:t>(tentative)</a:t>
            </a:r>
            <a:endParaRPr lang="en-US" sz="860" dirty="0"/>
          </a:p>
        </p:txBody>
      </p:sp>
      <p:sp>
        <p:nvSpPr>
          <p:cNvPr id="29" name="Text 22"/>
          <p:cNvSpPr txBox="1"/>
          <p:nvPr/>
        </p:nvSpPr>
        <p:spPr>
          <a:xfrm>
            <a:off x="3913632" y="7013448"/>
            <a:ext cx="3218688" cy="1005840"/>
          </a:xfrm>
          <a:prstGeom prst="rect">
            <a:avLst/>
          </a:prstGeom>
          <a:noFill/>
          <a:ln/>
        </p:spPr>
        <p:txBody>
          <a:bodyPr wrap="square" lIns="0" tIns="0" rIns="0" bIns="0" rtlCol="0" anchor="t"/>
          <a:lstStyle/>
          <a:p>
            <a:pPr indent="0" marL="0">
              <a:spcAft>
                <a:spcPts val="100"/>
              </a:spcAft>
              <a:buNone/>
            </a:pPr>
            <a:r>
              <a:rPr lang="en-US" sz="760" b="1" dirty="0">
                <a:solidFill>
                  <a:srgbClr val="1B2450"/>
                </a:solidFill>
                <a:latin typeface="Inter" pitchFamily="34" charset="0"/>
                <a:ea typeface="Inter" pitchFamily="34" charset="-122"/>
                <a:cs typeface="Inter" pitchFamily="34" charset="-120"/>
              </a:rPr>
              <a:t>Welcome reception</a:t>
            </a:r>
            <a:pPr indent="0" marL="0">
              <a:spcAft>
                <a:spcPts val="100"/>
              </a:spcAft>
              <a:buNone/>
            </a:pPr>
            <a:r>
              <a:rPr lang="en-US" sz="760" dirty="0">
                <a:solidFill>
                  <a:srgbClr val="262B3D"/>
                </a:solidFill>
                <a:latin typeface="Inter" pitchFamily="34" charset="0"/>
                <a:ea typeface="Inter" pitchFamily="34" charset="-122"/>
                <a:cs typeface="Inter" pitchFamily="34" charset="-120"/>
              </a:rPr>
              <a:t> on </a:t>
            </a:r>
            <a:pPr indent="0" marL="0">
              <a:spcAft>
                <a:spcPts val="1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Day 1 </a:t>
            </a:r>
            <a:pPr indent="0" marL="0">
              <a:spcAft>
                <a:spcPts val="200"/>
              </a:spcAft>
              <a:buNone/>
            </a:pPr>
            <a:endParaRPr lang="en-US" sz="760" dirty="0"/>
          </a:p>
          <a:p>
            <a:pPr indent="0" marL="0">
              <a:spcAft>
                <a:spcPts val="100"/>
              </a:spcAft>
              <a:buNone/>
            </a:pPr>
            <a:r>
              <a:rPr lang="en-US" sz="760" dirty="0">
                <a:solidFill>
                  <a:srgbClr val="262B3D"/>
                </a:solidFill>
                <a:latin typeface="Inter" pitchFamily="34" charset="0"/>
                <a:ea typeface="Inter" pitchFamily="34" charset="-122"/>
                <a:cs typeface="Inter" pitchFamily="34" charset="-120"/>
              </a:rPr>
              <a:t>Welcome reception at the conference hotel on the first evening.</a:t>
            </a:r>
            <a:endParaRPr lang="en-US" sz="760" dirty="0"/>
          </a:p>
          <a:p>
            <a:pPr indent="0" marL="0">
              <a:spcAft>
                <a:spcPts val="100"/>
              </a:spcAft>
              <a:buNone/>
            </a:pPr>
            <a:r>
              <a:rPr lang="en-US" sz="760" b="1" dirty="0">
                <a:solidFill>
                  <a:srgbClr val="1B2450"/>
                </a:solidFill>
                <a:latin typeface="Inter" pitchFamily="34" charset="0"/>
                <a:ea typeface="Inter" pitchFamily="34" charset="-122"/>
                <a:cs typeface="Inter" pitchFamily="34" charset="-120"/>
              </a:rPr>
              <a:t>Conference dinner</a:t>
            </a:r>
            <a:pPr indent="0" marL="0">
              <a:spcAft>
                <a:spcPts val="100"/>
              </a:spcAft>
              <a:buNone/>
            </a:pPr>
            <a:r>
              <a:rPr lang="en-US" sz="760" dirty="0">
                <a:solidFill>
                  <a:srgbClr val="262B3D"/>
                </a:solidFill>
                <a:latin typeface="Inter" pitchFamily="34" charset="0"/>
                <a:ea typeface="Inter" pitchFamily="34" charset="-122"/>
                <a:cs typeface="Inter" pitchFamily="34" charset="-120"/>
              </a:rPr>
              <a:t> on </a:t>
            </a:r>
            <a:pPr indent="0" marL="0">
              <a:spcAft>
                <a:spcPts val="1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Day 3 </a:t>
            </a:r>
            <a:pPr indent="0" marL="0">
              <a:spcAft>
                <a:spcPts val="200"/>
              </a:spcAft>
              <a:buNone/>
            </a:pPr>
            <a:endParaRPr lang="en-US" sz="760" dirty="0"/>
          </a:p>
          <a:p>
            <a:pPr indent="0" marL="0">
              <a:spcAft>
                <a:spcPts val="100"/>
              </a:spcAft>
              <a:buNone/>
            </a:pPr>
            <a:r>
              <a:rPr lang="en-US" sz="760" dirty="0">
                <a:solidFill>
                  <a:srgbClr val="262B3D"/>
                </a:solidFill>
                <a:latin typeface="Inter" pitchFamily="34" charset="0"/>
                <a:ea typeface="Inter" pitchFamily="34" charset="-122"/>
                <a:cs typeface="Inter" pitchFamily="34" charset="-120"/>
              </a:rPr>
              <a:t>Korean banquet in the city centre with a traditional performance.</a:t>
            </a:r>
            <a:endParaRPr lang="en-US" sz="760" dirty="0"/>
          </a:p>
          <a:p>
            <a:pPr indent="0" marL="0">
              <a:spcAft>
                <a:spcPts val="100"/>
              </a:spcAft>
              <a:buNone/>
            </a:pPr>
            <a:r>
              <a:rPr lang="en-US" sz="760" b="1" dirty="0">
                <a:solidFill>
                  <a:srgbClr val="1B2450"/>
                </a:solidFill>
                <a:latin typeface="Inter" pitchFamily="34" charset="0"/>
                <a:ea typeface="Inter" pitchFamily="34" charset="-122"/>
                <a:cs typeface="Inter" pitchFamily="34" charset="-120"/>
              </a:rPr>
              <a:t>Cultural afternoon</a:t>
            </a:r>
            <a:pPr indent="0" marL="0">
              <a:spcAft>
                <a:spcPts val="100"/>
              </a:spcAft>
              <a:buNone/>
            </a:pPr>
            <a:r>
              <a:rPr lang="en-US" sz="760" dirty="0">
                <a:solidFill>
                  <a:srgbClr val="262B3D"/>
                </a:solidFill>
                <a:latin typeface="Inter" pitchFamily="34" charset="0"/>
                <a:ea typeface="Inter" pitchFamily="34" charset="-122"/>
                <a:cs typeface="Inter" pitchFamily="34" charset="-120"/>
              </a:rPr>
              <a:t> on </a:t>
            </a:r>
            <a:pPr indent="0" marL="0">
              <a:spcAft>
                <a:spcPts val="100"/>
              </a:spcAft>
              <a:buNone/>
            </a:pPr>
            <a:r>
              <a:rPr lang="en-US" sz="700" b="1" dirty="0">
                <a:solidFill>
                  <a:srgbClr val="B8402F"/>
                </a:solidFill>
                <a:highlight>
                  <a:srgbClr val="FFF1EE"/>
                </a:highlight>
                <a:latin typeface="Manrope" pitchFamily="34" charset="0"/>
                <a:ea typeface="Manrope" pitchFamily="34" charset="-122"/>
                <a:cs typeface="Manrope" pitchFamily="34" charset="-120"/>
              </a:rPr>
              <a:t> Day 4 </a:t>
            </a:r>
            <a:pPr indent="0" marL="0">
              <a:spcAft>
                <a:spcPts val="200"/>
              </a:spcAft>
              <a:buNone/>
            </a:pPr>
            <a:endParaRPr lang="en-US" sz="760" dirty="0"/>
          </a:p>
          <a:p>
            <a:pPr indent="0" marL="0">
              <a:spcAft>
                <a:spcPts val="100"/>
              </a:spcAft>
              <a:buNone/>
            </a:pPr>
            <a:r>
              <a:rPr lang="en-US" sz="760" dirty="0">
                <a:solidFill>
                  <a:srgbClr val="262B3D"/>
                </a:solidFill>
                <a:latin typeface="Inter" pitchFamily="34" charset="0"/>
                <a:ea typeface="Inter" pitchFamily="34" charset="-122"/>
                <a:cs typeface="Inter" pitchFamily="34" charset="-120"/>
              </a:rPr>
              <a:t>Gyeongbokgung Palace and Bukchon Hanok Village, or a Han River evening cruise.</a:t>
            </a:r>
            <a:endParaRPr lang="en-US" sz="760" dirty="0"/>
          </a:p>
        </p:txBody>
      </p:sp>
      <p:sp>
        <p:nvSpPr>
          <p:cNvPr id="30" name="Text 23"/>
          <p:cNvSpPr txBox="1"/>
          <p:nvPr/>
        </p:nvSpPr>
        <p:spPr>
          <a:xfrm>
            <a:off x="3913632" y="8055864"/>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Manrope" pitchFamily="34" charset="0"/>
                <a:ea typeface="Manrope" pitchFamily="34" charset="-122"/>
                <a:cs typeface="Manrope" pitchFamily="34" charset="-120"/>
              </a:rPr>
              <a:t>Topics</a:t>
            </a:r>
            <a:endParaRPr lang="en-US" sz="860" dirty="0"/>
          </a:p>
        </p:txBody>
      </p:sp>
      <p:sp>
        <p:nvSpPr>
          <p:cNvPr id="31" name="Text 24"/>
          <p:cNvSpPr txBox="1"/>
          <p:nvPr/>
        </p:nvSpPr>
        <p:spPr>
          <a:xfrm>
            <a:off x="3913632" y="8257032"/>
            <a:ext cx="3218688" cy="950976"/>
          </a:xfrm>
          <a:prstGeom prst="rect">
            <a:avLst/>
          </a:prstGeom>
          <a:noFill/>
          <a:ln/>
        </p:spPr>
        <p:txBody>
          <a:bodyPr wrap="square" lIns="0" tIns="0" rIns="0" bIns="0" rtlCol="0" anchor="t"/>
          <a:lstStyle/>
          <a:p>
            <a:pPr indent="0" marL="0">
              <a:spcAft>
                <a:spcPts val="100"/>
              </a:spcAft>
              <a:buNone/>
            </a:pPr>
            <a:r>
              <a:rPr lang="en-US" sz="760" dirty="0">
                <a:solidFill>
                  <a:srgbClr val="262B3D"/>
                </a:solidFill>
                <a:latin typeface="Inter" pitchFamily="34" charset="0"/>
                <a:ea typeface="Inter" pitchFamily="34" charset="-122"/>
                <a:cs typeface="Inter" pitchFamily="34" charset="-120"/>
              </a:rPr>
              <a:t>· Synthesis, alignment and processing of LCEs</a:t>
            </a:r>
            <a:endParaRPr lang="en-US" sz="760" dirty="0"/>
          </a:p>
          <a:p>
            <a:pPr indent="0" marL="0">
              <a:spcAft>
                <a:spcPts val="100"/>
              </a:spcAft>
              <a:buNone/>
            </a:pPr>
            <a:r>
              <a:rPr lang="en-US" sz="760" dirty="0">
                <a:solidFill>
                  <a:srgbClr val="262B3D"/>
                </a:solidFill>
                <a:latin typeface="Inter" pitchFamily="34" charset="0"/>
                <a:ea typeface="Inter" pitchFamily="34" charset="-122"/>
                <a:cs typeface="Inter" pitchFamily="34" charset="-120"/>
              </a:rPr>
              <a:t>· Photo-, thermo-, electro- and magneto-actuation</a:t>
            </a:r>
            <a:endParaRPr lang="en-US" sz="760" dirty="0"/>
          </a:p>
          <a:p>
            <a:pPr indent="0" marL="0">
              <a:spcAft>
                <a:spcPts val="100"/>
              </a:spcAft>
              <a:buNone/>
            </a:pPr>
            <a:r>
              <a:rPr lang="en-US" sz="760" dirty="0">
                <a:solidFill>
                  <a:srgbClr val="262B3D"/>
                </a:solidFill>
                <a:latin typeface="Inter" pitchFamily="34" charset="0"/>
                <a:ea typeface="Inter" pitchFamily="34" charset="-122"/>
                <a:cs typeface="Inter" pitchFamily="34" charset="-120"/>
              </a:rPr>
              <a:t>· Soft mechanics, instabilities, defects and topology</a:t>
            </a:r>
            <a:endParaRPr lang="en-US" sz="760" dirty="0"/>
          </a:p>
          <a:p>
            <a:pPr indent="0" marL="0">
              <a:spcAft>
                <a:spcPts val="100"/>
              </a:spcAft>
              <a:buNone/>
            </a:pPr>
            <a:r>
              <a:rPr lang="en-US" sz="760" dirty="0">
                <a:solidFill>
                  <a:srgbClr val="262B3D"/>
                </a:solidFill>
                <a:latin typeface="Inter" pitchFamily="34" charset="0"/>
                <a:ea typeface="Inter" pitchFamily="34" charset="-122"/>
                <a:cs typeface="Inter" pitchFamily="34" charset="-120"/>
              </a:rPr>
              <a:t>· 4D printing and microfabrication</a:t>
            </a:r>
            <a:endParaRPr lang="en-US" sz="760" dirty="0"/>
          </a:p>
          <a:p>
            <a:pPr indent="0" marL="0">
              <a:spcAft>
                <a:spcPts val="100"/>
              </a:spcAft>
              <a:buNone/>
            </a:pPr>
            <a:r>
              <a:rPr lang="en-US" sz="760" dirty="0">
                <a:solidFill>
                  <a:srgbClr val="262B3D"/>
                </a:solidFill>
                <a:latin typeface="Inter" pitchFamily="34" charset="0"/>
                <a:ea typeface="Inter" pitchFamily="34" charset="-122"/>
                <a:cs typeface="Inter" pitchFamily="34" charset="-120"/>
              </a:rPr>
              <a:t>· Feedback-driven and autonomous motion; soft robotics</a:t>
            </a:r>
            <a:endParaRPr lang="en-US" sz="760" dirty="0"/>
          </a:p>
          <a:p>
            <a:pPr indent="0" marL="0">
              <a:spcAft>
                <a:spcPts val="100"/>
              </a:spcAft>
              <a:buNone/>
            </a:pPr>
            <a:r>
              <a:rPr lang="en-US" sz="760" dirty="0">
                <a:solidFill>
                  <a:srgbClr val="262B3D"/>
                </a:solidFill>
                <a:latin typeface="Inter" pitchFamily="34" charset="0"/>
                <a:ea typeface="Inter" pitchFamily="34" charset="-122"/>
                <a:cs typeface="Inter" pitchFamily="34" charset="-120"/>
              </a:rPr>
              <a:t>· Tunable photonics, stretchable and wearable devices</a:t>
            </a:r>
            <a:endParaRPr lang="en-US" sz="760" dirty="0"/>
          </a:p>
          <a:p>
            <a:pPr indent="0" marL="0">
              <a:spcAft>
                <a:spcPts val="100"/>
              </a:spcAft>
              <a:buNone/>
            </a:pPr>
            <a:r>
              <a:rPr lang="en-US" sz="760" dirty="0">
                <a:solidFill>
                  <a:srgbClr val="262B3D"/>
                </a:solidFill>
                <a:latin typeface="Inter" pitchFamily="34" charset="0"/>
                <a:ea typeface="Inter" pitchFamily="34" charset="-122"/>
                <a:cs typeface="Inter" pitchFamily="34" charset="-120"/>
              </a:rPr>
              <a:t>· Theory, modelling and data-driven design</a:t>
            </a:r>
            <a:endParaRPr lang="en-US" sz="760" dirty="0"/>
          </a:p>
        </p:txBody>
      </p:sp>
      <p:sp>
        <p:nvSpPr>
          <p:cNvPr id="32" name="Shape 25"/>
          <p:cNvSpPr/>
          <p:nvPr/>
        </p:nvSpPr>
        <p:spPr>
          <a:xfrm>
            <a:off x="429768" y="9253728"/>
            <a:ext cx="6702552" cy="0"/>
          </a:xfrm>
          <a:prstGeom prst="line">
            <a:avLst/>
          </a:prstGeom>
          <a:noFill/>
          <a:ln w="9525">
            <a:solidFill>
              <a:srgbClr val="CFD4EA"/>
            </a:solidFill>
            <a:prstDash val="solid"/>
          </a:ln>
        </p:spPr>
      </p:sp>
      <p:sp>
        <p:nvSpPr>
          <p:cNvPr id="33" name="Shape 26"/>
          <p:cNvSpPr/>
          <p:nvPr/>
        </p:nvSpPr>
        <p:spPr>
          <a:xfrm>
            <a:off x="429768" y="9363456"/>
            <a:ext cx="932688" cy="347472"/>
          </a:xfrm>
          <a:prstGeom prst="roundRect">
            <a:avLst>
              <a:gd name="adj" fmla="val 10526"/>
            </a:avLst>
          </a:prstGeom>
          <a:solidFill>
            <a:srgbClr val="FFFFFF"/>
          </a:solidFill>
          <a:ln w="9525">
            <a:solidFill>
              <a:srgbClr val="CFD4EA"/>
            </a:solidFill>
            <a:prstDash val="dash"/>
          </a:ln>
        </p:spPr>
      </p:sp>
      <p:sp>
        <p:nvSpPr>
          <p:cNvPr id="34" name="Text 27"/>
          <p:cNvSpPr txBox="1"/>
          <p:nvPr/>
        </p:nvSpPr>
        <p:spPr>
          <a:xfrm>
            <a:off x="429768"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Inter" pitchFamily="34" charset="0"/>
                <a:ea typeface="Inter" pitchFamily="34" charset="-122"/>
                <a:cs typeface="Inter" pitchFamily="34" charset="-120"/>
              </a:rPr>
              <a:t>Host institution logo</a:t>
            </a:r>
            <a:endParaRPr lang="en-US" sz="620" dirty="0"/>
          </a:p>
        </p:txBody>
      </p:sp>
      <p:sp>
        <p:nvSpPr>
          <p:cNvPr id="35" name="Shape 28"/>
          <p:cNvSpPr/>
          <p:nvPr/>
        </p:nvSpPr>
        <p:spPr>
          <a:xfrm>
            <a:off x="1453896" y="9363456"/>
            <a:ext cx="932688" cy="347472"/>
          </a:xfrm>
          <a:prstGeom prst="roundRect">
            <a:avLst>
              <a:gd name="adj" fmla="val 10526"/>
            </a:avLst>
          </a:prstGeom>
          <a:solidFill>
            <a:srgbClr val="FFFFFF"/>
          </a:solidFill>
          <a:ln w="9525">
            <a:solidFill>
              <a:srgbClr val="CFD4EA"/>
            </a:solidFill>
            <a:prstDash val="dash"/>
          </a:ln>
        </p:spPr>
      </p:sp>
      <p:sp>
        <p:nvSpPr>
          <p:cNvPr id="36" name="Text 29"/>
          <p:cNvSpPr txBox="1"/>
          <p:nvPr/>
        </p:nvSpPr>
        <p:spPr>
          <a:xfrm>
            <a:off x="1453896"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Inter" pitchFamily="34" charset="0"/>
                <a:ea typeface="Inter" pitchFamily="34" charset="-122"/>
                <a:cs typeface="Inter" pitchFamily="34" charset="-120"/>
              </a:rPr>
              <a:t>Society / sponsor logo</a:t>
            </a:r>
            <a:endParaRPr lang="en-US" sz="620" dirty="0"/>
          </a:p>
        </p:txBody>
      </p:sp>
      <p:sp>
        <p:nvSpPr>
          <p:cNvPr id="37" name="Shape 30"/>
          <p:cNvSpPr/>
          <p:nvPr/>
        </p:nvSpPr>
        <p:spPr>
          <a:xfrm>
            <a:off x="2478024" y="9363456"/>
            <a:ext cx="932688" cy="347472"/>
          </a:xfrm>
          <a:prstGeom prst="roundRect">
            <a:avLst>
              <a:gd name="adj" fmla="val 10526"/>
            </a:avLst>
          </a:prstGeom>
          <a:solidFill>
            <a:srgbClr val="FFFFFF"/>
          </a:solidFill>
          <a:ln w="9525">
            <a:solidFill>
              <a:srgbClr val="CFD4EA"/>
            </a:solidFill>
            <a:prstDash val="dash"/>
          </a:ln>
        </p:spPr>
      </p:sp>
      <p:sp>
        <p:nvSpPr>
          <p:cNvPr id="38" name="Text 31"/>
          <p:cNvSpPr txBox="1"/>
          <p:nvPr/>
        </p:nvSpPr>
        <p:spPr>
          <a:xfrm>
            <a:off x="2478024"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Inter" pitchFamily="34" charset="0"/>
                <a:ea typeface="Inter" pitchFamily="34" charset="-122"/>
                <a:cs typeface="Inter" pitchFamily="34" charset="-120"/>
              </a:rPr>
              <a:t>Seoul CVB / KTO logo</a:t>
            </a:r>
            <a:endParaRPr lang="en-US" sz="620" dirty="0"/>
          </a:p>
        </p:txBody>
      </p:sp>
      <p:sp>
        <p:nvSpPr>
          <p:cNvPr id="39" name="Text 32"/>
          <p:cNvSpPr txBox="1"/>
          <p:nvPr/>
        </p:nvSpPr>
        <p:spPr>
          <a:xfrm>
            <a:off x="3931920" y="9326880"/>
            <a:ext cx="3200400" cy="420624"/>
          </a:xfrm>
          <a:prstGeom prst="rect">
            <a:avLst/>
          </a:prstGeom>
          <a:noFill/>
          <a:ln/>
        </p:spPr>
        <p:txBody>
          <a:bodyPr wrap="square" lIns="0" tIns="0" rIns="0" bIns="0" rtlCol="0" anchor="ctr"/>
          <a:lstStyle/>
          <a:p>
            <a:pPr algn="r" indent="0" marL="0">
              <a:buNone/>
            </a:pPr>
            <a:r>
              <a:rPr lang="en-US" sz="610" b="1" dirty="0">
                <a:solidFill>
                  <a:srgbClr val="2C3A7A"/>
                </a:solidFill>
                <a:latin typeface="Inter" pitchFamily="34" charset="0"/>
                <a:ea typeface="Inter" pitchFamily="34" charset="-122"/>
                <a:cs typeface="Inter" pitchFamily="34" charset="-120"/>
              </a:rPr>
              <a:t>Photos: </a:t>
            </a:r>
            <a:pPr algn="r" indent="0" marL="0">
              <a:buNone/>
            </a:pPr>
            <a:r>
              <a:rPr lang="en-US" sz="610" dirty="0">
                <a:solidFill>
                  <a:srgbClr val="5B6079"/>
                </a:solidFill>
                <a:latin typeface="Inter" pitchFamily="34" charset="0"/>
                <a:ea typeface="Inter" pitchFamily="34" charset="-122"/>
                <a:cs typeface="Inter" pitchFamily="34" charset="-120"/>
              </a:rPr>
              <a:t>© Korea Tourism Organization (Photo Korea) – 조한섭, 한국관광공사 카멜프레스, 안형록, 임귀빈, 임태원, 이재국, IR 스튜디오. KOGL Type 1.</a:t>
            </a:r>
            <a:endParaRPr lang="en-US" sz="610" dirty="0"/>
          </a:p>
          <a:p>
            <a:pPr algn="r" indent="0" marL="0">
              <a:buNone/>
            </a:pPr>
            <a:r>
              <a:rPr lang="en-US" sz="610" dirty="0">
                <a:solidFill>
                  <a:srgbClr val="5B6079"/>
                </a:solidFill>
                <a:latin typeface="Inter" pitchFamily="34" charset="0"/>
                <a:ea typeface="Inter" pitchFamily="34" charset="-122"/>
                <a:cs typeface="Inter" pitchFamily="34" charset="-120"/>
              </a:rPr>
              <a:t>Typefaces: Manrope and Inter (SIL Open Font License).</a:t>
            </a:r>
            <a:endParaRPr lang="en-US" sz="61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ILCEC 2027 First Announcement (draft)</dc:title>
  <dc:subject>PptxGenJS Presentation</dc:subject>
  <dc:creator>ILCEC 2027 Organizing Committee</dc:creator>
  <cp:lastModifiedBy>ILCEC 2027 Organizing Committee</cp:lastModifiedBy>
  <cp:revision>1</cp:revision>
  <dcterms:created xsi:type="dcterms:W3CDTF">2026-09-21T07:02:28Z</dcterms:created>
  <dcterms:modified xsi:type="dcterms:W3CDTF">2026-09-21T07:02:28Z</dcterms:modified>
</cp:coreProperties>
</file>