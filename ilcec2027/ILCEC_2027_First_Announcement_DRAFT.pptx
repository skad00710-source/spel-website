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ILCEC 2027 First Announcement – FRONT page (draft).
Replace every red [bracketed] item. Click the empty picture icons to insert photos (Photo Korea, phoko.visitkorea.or.kr, KOGL type 1, credit required). Right-click the top illustration → Change Picture to swap in a Seoul panorama. Delete the red DRAFT tag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ILCEC 2027 First Announcement – BACK page (draft). Committee lists, webpage, venue details and topics. Same editing rules as the front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ONT">
    <p:bg>
      <p:bgPr>
        <a:solidFill>
          <a:srgbClr val="FFFFFF"/>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429768" y="393192"/>
            <a:ext cx="6702552" cy="1737360"/>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type="pic" idx="101" hasCustomPrompt="1"/>
          </p:nvPr>
        </p:nvSpPr>
        <p:spPr>
          <a:xfrm>
            <a:off x="429768" y="6967728"/>
            <a:ext cx="3218688" cy="117043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4" name="Text 0"/>
          <p:cNvSpPr/>
          <p:nvPr>
            <p:ph type="pic" idx="102" hasCustomPrompt="1"/>
          </p:nvPr>
        </p:nvSpPr>
        <p:spPr>
          <a:xfrm>
            <a:off x="429768" y="8211312"/>
            <a:ext cx="3218688" cy="87782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5" name="Text 0"/>
          <p:cNvSpPr/>
          <p:nvPr>
            <p:ph type="pic" idx="103" hasCustomPrompt="1"/>
          </p:nvPr>
        </p:nvSpPr>
        <p:spPr>
          <a:xfrm>
            <a:off x="3913632" y="8394192"/>
            <a:ext cx="1563624" cy="694944"/>
          </a:xfrm>
          <a:prstGeom prst="rect">
            <a:avLst/>
          </a:prstGeom>
          <a:noFill/>
          <a:ln/>
        </p:spPr>
        <p:txBody>
          <a:bodyPr wrap="square" rtlCol="0"/>
          <a:lstStyle>
            <a:lvl1pPr indent="0" marL="0">
              <a:buNone/>
              <a:defRPr lang="en-US" dirty="0"/>
            </a:lvl1pPr>
          </a:lstStyle>
          <a:p>
            <a:pPr indent="0" marL="0">
              <a:buNone/>
            </a:pPr>
            <a:endParaRPr lang="en-US" dirty="0"/>
          </a:p>
        </p:txBody>
      </p:sp>
      <p:sp>
        <p:nvSpPr>
          <p:cNvPr id="6" name="Text 0"/>
          <p:cNvSpPr/>
          <p:nvPr>
            <p:ph idx="104" hasCustomPrompt="1"/>
          </p:nvPr>
        </p:nvSpPr>
        <p:spPr>
          <a:xfrm>
            <a:off x="5568696" y="8394192"/>
            <a:ext cx="1563624" cy="694944"/>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CK">
    <p:bg>
      <p:bgPr>
        <a:solidFill>
          <a:srgbClr val="FFFFFF"/>
        </a:solidFill>
      </p:bgPr>
    </p:bg>
    <p:spTree>
      <p:nvGrpSpPr>
        <p:cNvPr id="1" name=""/>
        <p:cNvGrpSpPr/>
        <p:nvPr/>
      </p:nvGrpSpPr>
      <p:grpSpPr>
        <a:xfrm>
          <a:off x="0" y="0"/>
          <a:ext cx="0" cy="0"/>
          <a:chOff x="0" y="0"/>
          <a:chExt cx="0" cy="0"/>
        </a:xfrm>
      </p:grpSpPr>
      <p:sp>
        <p:nvSpPr>
          <p:cNvPr id="2" name="Text 0"/>
          <p:cNvSpPr/>
          <p:nvPr>
            <p:ph type="pic" idx="100" hasCustomPrompt="1"/>
          </p:nvPr>
        </p:nvSpPr>
        <p:spPr>
          <a:xfrm>
            <a:off x="429768" y="393192"/>
            <a:ext cx="6702552" cy="1444752"/>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type="pic" idx="101" hasCustomPrompt="1"/>
          </p:nvPr>
        </p:nvSpPr>
        <p:spPr>
          <a:xfrm>
            <a:off x="429768" y="7818120"/>
            <a:ext cx="3218688" cy="128016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spel-website/ilcec2027/flyer/pptx/hero.png">    </p:cNvPr>
          <p:cNvPicPr>
            <a:picLocks noChangeAspect="1"/>
          </p:cNvPicPr>
          <p:nvPr>
            <p:ph type="pic" idx="100" hasCustomPrompt="1"/>
          </p:nvPr>
        </p:nvPicPr>
        <p:blipFill>
          <a:blip r:embed="rId1"/>
          <a:stretch>
            <a:fillRect/>
          </a:stretch>
        </p:blipFill>
        <p:spPr>
          <a:xfrm>
            <a:off x="429768" y="393192"/>
            <a:ext cx="6702552" cy="1737360"/>
          </a:xfrm>
          <a:prstGeom prst="rect">
            <a:avLst/>
          </a:prstGeom>
        </p:spPr>
      </p:pic>
      <p:sp>
        <p:nvSpPr>
          <p:cNvPr id="3" name="Text 0"/>
          <p:cNvSpPr txBox="1"/>
          <p:nvPr/>
        </p:nvSpPr>
        <p:spPr>
          <a:xfrm>
            <a:off x="594360" y="1828800"/>
            <a:ext cx="1920240" cy="228600"/>
          </a:xfrm>
          <a:prstGeom prst="rect">
            <a:avLst/>
          </a:prstGeom>
          <a:solidFill>
            <a:srgbClr val="1B2450">
              <a:alpha val="55000"/>
            </a:srgbClr>
          </a:solidFill>
          <a:ln w="6350">
            <a:solidFill>
              <a:srgbClr val="FFFFFF">
                <a:alpha val="55000"/>
              </a:srgbClr>
            </a:solidFill>
          </a:ln>
        </p:spPr>
        <p:txBody>
          <a:bodyPr wrap="square" lIns="0" tIns="76200" rIns="76200" bIns="0" rtlCol="0" anchor="ctr"/>
          <a:lstStyle/>
          <a:p>
            <a:pPr indent="0" marL="0">
              <a:buNone/>
            </a:pPr>
            <a:r>
              <a:rPr lang="en-US" sz="800" b="1" spc="300" kern="0" dirty="0">
                <a:solidFill>
                  <a:srgbClr val="FFFFFF"/>
                </a:solidFill>
                <a:latin typeface="Arial" pitchFamily="34" charset="0"/>
                <a:ea typeface="Arial" pitchFamily="34" charset="-122"/>
                <a:cs typeface="Arial" pitchFamily="34" charset="-120"/>
              </a:rPr>
              <a:t>SEOUL  ·  KOREA  ·  2027</a:t>
            </a:r>
            <a:endParaRPr lang="en-US" sz="800" dirty="0"/>
          </a:p>
        </p:txBody>
      </p:sp>
      <p:pic>
        <p:nvPicPr>
          <p:cNvPr id="4" name="Image 1" descr="/home/user/spel-website/ilcec2027/flyer/pptx/motif.png">    </p:cNvPr>
          <p:cNvPicPr>
            <a:picLocks noChangeAspect="1"/>
          </p:cNvPicPr>
          <p:nvPr/>
        </p:nvPicPr>
        <p:blipFill>
          <a:blip r:embed="rId2"/>
          <a:stretch>
            <a:fillRect/>
          </a:stretch>
        </p:blipFill>
        <p:spPr>
          <a:xfrm>
            <a:off x="5989320" y="18288"/>
            <a:ext cx="1417320" cy="1417320"/>
          </a:xfrm>
          <a:prstGeom prst="rect">
            <a:avLst/>
          </a:prstGeom>
        </p:spPr>
      </p:pic>
      <p:pic>
        <p:nvPicPr>
          <p:cNvPr id="5" name="Image 2" descr="/home/user/spel-website/ilcec2027/flyer/pptx/motif2.png">    </p:cNvPr>
          <p:cNvPicPr>
            <a:picLocks noChangeAspect="1"/>
          </p:cNvPicPr>
          <p:nvPr/>
        </p:nvPicPr>
        <p:blipFill>
          <a:blip r:embed="rId3"/>
          <a:stretch>
            <a:fillRect/>
          </a:stretch>
        </p:blipFill>
        <p:spPr>
          <a:xfrm>
            <a:off x="4645152" y="1938528"/>
            <a:ext cx="502920" cy="502920"/>
          </a:xfrm>
          <a:prstGeom prst="rect">
            <a:avLst/>
          </a:prstGeom>
        </p:spPr>
      </p:pic>
      <p:sp>
        <p:nvSpPr>
          <p:cNvPr id="6" name="Text 1"/>
          <p:cNvSpPr txBox="1"/>
          <p:nvPr/>
        </p:nvSpPr>
        <p:spPr>
          <a:xfrm>
            <a:off x="429768" y="2286000"/>
            <a:ext cx="4343400" cy="868680"/>
          </a:xfrm>
          <a:prstGeom prst="rect">
            <a:avLst/>
          </a:prstGeom>
          <a:noFill/>
          <a:ln/>
        </p:spPr>
        <p:txBody>
          <a:bodyPr wrap="square" lIns="0" tIns="0" rIns="0" bIns="0" rtlCol="0" anchor="b"/>
          <a:lstStyle/>
          <a:p>
            <a:pPr indent="0" marL="0">
              <a:lnSpc>
                <a:spcPct val="95000"/>
              </a:lnSpc>
              <a:buNone/>
            </a:pPr>
            <a:r>
              <a:rPr lang="en-US" sz="2500" b="1" dirty="0">
                <a:solidFill>
                  <a:srgbClr val="1B2450"/>
                </a:solidFill>
                <a:latin typeface="Arial" pitchFamily="34" charset="0"/>
                <a:ea typeface="Arial" pitchFamily="34" charset="-122"/>
                <a:cs typeface="Arial" pitchFamily="34" charset="-120"/>
              </a:rPr>
              <a:t>International Liquid Crystal</a:t>
            </a:r>
            <a:endParaRPr lang="en-US" sz="2500" dirty="0"/>
          </a:p>
          <a:p>
            <a:pPr indent="0" marL="0">
              <a:lnSpc>
                <a:spcPct val="95000"/>
              </a:lnSpc>
              <a:buNone/>
            </a:pPr>
            <a:r>
              <a:rPr lang="en-US" sz="2500" b="1" dirty="0">
                <a:solidFill>
                  <a:srgbClr val="1B2450"/>
                </a:solidFill>
                <a:latin typeface="Arial" pitchFamily="34" charset="0"/>
                <a:ea typeface="Arial" pitchFamily="34" charset="-122"/>
                <a:cs typeface="Arial" pitchFamily="34" charset="-120"/>
              </a:rPr>
              <a:t>Elastomer Conference</a:t>
            </a:r>
            <a:endParaRPr lang="en-US" sz="2500" dirty="0"/>
          </a:p>
        </p:txBody>
      </p:sp>
      <p:sp>
        <p:nvSpPr>
          <p:cNvPr id="7" name="Text 2"/>
          <p:cNvSpPr txBox="1"/>
          <p:nvPr/>
        </p:nvSpPr>
        <p:spPr>
          <a:xfrm>
            <a:off x="5138928" y="2286000"/>
            <a:ext cx="2057400" cy="868680"/>
          </a:xfrm>
          <a:prstGeom prst="rect">
            <a:avLst/>
          </a:prstGeom>
          <a:noFill/>
          <a:ln/>
        </p:spPr>
        <p:txBody>
          <a:bodyPr wrap="square" lIns="0" tIns="0" rIns="0" bIns="0" rtlCol="0" anchor="b"/>
          <a:lstStyle/>
          <a:p>
            <a:pPr indent="0" marL="0">
              <a:lnSpc>
                <a:spcPct val="110000"/>
              </a:lnSpc>
              <a:buNone/>
            </a:pPr>
            <a:r>
              <a:rPr lang="en-US" sz="1500" b="1" dirty="0">
                <a:solidFill>
                  <a:srgbClr val="D8432F"/>
                </a:solidFill>
                <a:latin typeface="Arial" pitchFamily="34" charset="0"/>
                <a:ea typeface="Arial" pitchFamily="34" charset="-122"/>
                <a:cs typeface="Arial" pitchFamily="34" charset="-120"/>
              </a:rPr>
              <a:t>ILCEC 2027</a:t>
            </a:r>
            <a:endParaRPr lang="en-US" sz="1500" dirty="0"/>
          </a:p>
          <a:p>
            <a:pPr indent="0" marL="0">
              <a:lnSpc>
                <a:spcPct val="110000"/>
              </a:lnSpc>
              <a:buNone/>
            </a:pPr>
            <a:r>
              <a:rPr lang="en-US" sz="1050" b="1" dirty="0">
                <a:solidFill>
                  <a:srgbClr val="2C3A7A"/>
                </a:solidFill>
                <a:latin typeface="Arial" pitchFamily="34" charset="0"/>
                <a:ea typeface="Arial" pitchFamily="34" charset="-122"/>
                <a:cs typeface="Arial" pitchFamily="34" charset="-120"/>
              </a:rPr>
              <a:t>on </a:t>
            </a:r>
            <a:pPr indent="0" marL="0">
              <a:lnSpc>
                <a:spcPct val="110000"/>
              </a:lnSpc>
              <a:buNone/>
            </a:pPr>
            <a:r>
              <a:rPr lang="en-US" sz="1050" b="1" dirty="0">
                <a:solidFill>
                  <a:srgbClr val="D8432F"/>
                </a:solidFill>
                <a:latin typeface="Arial" pitchFamily="34" charset="0"/>
                <a:ea typeface="Arial" pitchFamily="34" charset="-122"/>
                <a:cs typeface="Arial" pitchFamily="34" charset="-120"/>
              </a:rPr>
              <a:t>[DD–DD Month 2027]</a:t>
            </a:r>
            <a:endParaRPr lang="en-US" sz="1500" dirty="0"/>
          </a:p>
          <a:p>
            <a:pPr indent="0" marL="0">
              <a:lnSpc>
                <a:spcPct val="110000"/>
              </a:lnSpc>
              <a:buNone/>
            </a:pPr>
            <a:r>
              <a:rPr lang="en-US" sz="1050" b="1" dirty="0">
                <a:solidFill>
                  <a:srgbClr val="2C3A7A"/>
                </a:solidFill>
                <a:latin typeface="Arial" pitchFamily="34" charset="0"/>
                <a:ea typeface="Arial" pitchFamily="34" charset="-122"/>
                <a:cs typeface="Arial" pitchFamily="34" charset="-120"/>
              </a:rPr>
              <a:t>in Seoul, Republic of Korea</a:t>
            </a:r>
            <a:endParaRPr lang="en-US" sz="1500" dirty="0"/>
          </a:p>
        </p:txBody>
      </p:sp>
      <p:sp>
        <p:nvSpPr>
          <p:cNvPr id="8" name="Text 3"/>
          <p:cNvSpPr txBox="1"/>
          <p:nvPr/>
        </p:nvSpPr>
        <p:spPr>
          <a:xfrm>
            <a:off x="6172200" y="45720"/>
            <a:ext cx="1051560" cy="219456"/>
          </a:xfrm>
          <a:prstGeom prst="rect">
            <a:avLst/>
          </a:prstGeom>
          <a:solidFill>
            <a:srgbClr val="D8432F"/>
          </a:solidFill>
          <a:ln/>
        </p:spPr>
        <p:txBody>
          <a:bodyPr wrap="square" lIns="0" tIns="0" rIns="0" bIns="0" rtlCol="0" anchor="ctr"/>
          <a:lstStyle/>
          <a:p>
            <a:pPr algn="ctr" indent="0" marL="0">
              <a:buNone/>
            </a:pPr>
            <a:r>
              <a:rPr lang="en-US" sz="750" b="1" spc="200" kern="0" dirty="0">
                <a:solidFill>
                  <a:srgbClr val="FFFFFF"/>
                </a:solidFill>
                <a:latin typeface="Arial" pitchFamily="34" charset="0"/>
                <a:ea typeface="Arial" pitchFamily="34" charset="-122"/>
                <a:cs typeface="Arial" pitchFamily="34" charset="-120"/>
              </a:rPr>
              <a:t>DRAFT · TBD</a:t>
            </a:r>
            <a:endParaRPr lang="en-US" sz="750" dirty="0"/>
          </a:p>
        </p:txBody>
      </p:sp>
      <p:sp>
        <p:nvSpPr>
          <p:cNvPr id="9" name="Text 4"/>
          <p:cNvSpPr txBox="1"/>
          <p:nvPr/>
        </p:nvSpPr>
        <p:spPr>
          <a:xfrm>
            <a:off x="429768" y="3310128"/>
            <a:ext cx="6702552" cy="1005840"/>
          </a:xfrm>
          <a:prstGeom prst="rect">
            <a:avLst/>
          </a:prstGeom>
          <a:noFill/>
          <a:ln/>
        </p:spPr>
        <p:txBody>
          <a:bodyPr wrap="square" lIns="0" tIns="0" rIns="0" bIns="0" rtlCol="0" anchor="t"/>
          <a:lstStyle/>
          <a:p>
            <a:pPr indent="0" marL="0">
              <a:lnSpc>
                <a:spcPct val="112000"/>
              </a:lnSpc>
              <a:buNone/>
            </a:pPr>
            <a:r>
              <a:rPr lang="en-US" sz="860" dirty="0">
                <a:solidFill>
                  <a:srgbClr val="2C3A7A"/>
                </a:solidFill>
                <a:latin typeface="Arial" pitchFamily="34" charset="0"/>
                <a:ea typeface="Arial" pitchFamily="34" charset="-122"/>
                <a:cs typeface="Arial" pitchFamily="34" charset="-120"/>
              </a:rPr>
              <a:t>The International Liquid Crystal Elastomer Conference (ILCEC) will be held in </a:t>
            </a:r>
            <a:pPr indent="0" marL="0">
              <a:lnSpc>
                <a:spcPct val="112000"/>
              </a:lnSpc>
              <a:buNone/>
            </a:pPr>
            <a:r>
              <a:rPr lang="en-US" sz="860" b="1" dirty="0">
                <a:solidFill>
                  <a:srgbClr val="1B2450"/>
                </a:solidFill>
                <a:latin typeface="Arial" pitchFamily="34" charset="0"/>
                <a:ea typeface="Arial" pitchFamily="34" charset="-122"/>
                <a:cs typeface="Arial" pitchFamily="34" charset="-120"/>
              </a:rPr>
              <a:t>2027 at the Royal Hotel Seoul, Myeongdong</a:t>
            </a:r>
            <a:pPr indent="0" marL="0">
              <a:lnSpc>
                <a:spcPct val="112000"/>
              </a:lnSpc>
              <a:buNone/>
            </a:pPr>
            <a:r>
              <a:rPr lang="en-US" sz="860" dirty="0">
                <a:solidFill>
                  <a:srgbClr val="2C3A7A"/>
                </a:solidFill>
                <a:latin typeface="Arial" pitchFamily="34" charset="0"/>
                <a:ea typeface="Arial" pitchFamily="34" charset="-122"/>
                <a:cs typeface="Arial" pitchFamily="34" charset="-120"/>
              </a:rPr>
              <a:t>, in the heart of Seoul, Republic of Korea. Following ILCEC 2025 in Tampere, ILCEC 2027 will bring together chemists, physicists and engineers to share fundamental advances and application opportunities for this exciting class of materials. The conference will cover, but is not limited to, dynamic and multiresponsive LCEs, soft mechanics and actuation, 4D printing, feedback-driven and autonomous motion, tunable photonics, and novel behaviour and functions of LCEs. Contributions on related stimuli-responsive soft materials are also welcome. We hope you will consider joining us in Seoul!</a:t>
            </a:r>
            <a:endParaRPr lang="en-US" sz="860" dirty="0"/>
          </a:p>
        </p:txBody>
      </p:sp>
      <p:sp>
        <p:nvSpPr>
          <p:cNvPr id="10" name="Text 5"/>
          <p:cNvSpPr txBox="1"/>
          <p:nvPr/>
        </p:nvSpPr>
        <p:spPr>
          <a:xfrm>
            <a:off x="429768" y="448056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Chairs</a:t>
            </a:r>
            <a:endParaRPr lang="en-US" sz="860" dirty="0"/>
          </a:p>
        </p:txBody>
      </p:sp>
      <p:sp>
        <p:nvSpPr>
          <p:cNvPr id="11" name="Text 6"/>
          <p:cNvSpPr txBox="1"/>
          <p:nvPr/>
        </p:nvSpPr>
        <p:spPr>
          <a:xfrm>
            <a:off x="429768" y="4681728"/>
            <a:ext cx="3218688" cy="310896"/>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[Chair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[Co-chair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endParaRPr lang="en-US" sz="760" dirty="0"/>
          </a:p>
        </p:txBody>
      </p:sp>
      <p:sp>
        <p:nvSpPr>
          <p:cNvPr id="12" name="Text 7"/>
          <p:cNvSpPr txBox="1"/>
          <p:nvPr/>
        </p:nvSpPr>
        <p:spPr>
          <a:xfrm>
            <a:off x="429768" y="5047488"/>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Contact</a:t>
            </a:r>
            <a:endParaRPr lang="en-US" sz="860" dirty="0"/>
          </a:p>
        </p:txBody>
      </p:sp>
      <p:sp>
        <p:nvSpPr>
          <p:cNvPr id="13" name="Text 8"/>
          <p:cNvSpPr txBox="1"/>
          <p:nvPr/>
        </p:nvSpPr>
        <p:spPr>
          <a:xfrm>
            <a:off x="429768" y="5248656"/>
            <a:ext cx="3218688" cy="310896"/>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[Coordinator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conference coordinator</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[ilcec2027@___.ac.kr]</a:t>
            </a:r>
            <a:endParaRPr lang="en-US" sz="760" dirty="0"/>
          </a:p>
        </p:txBody>
      </p:sp>
      <p:sp>
        <p:nvSpPr>
          <p:cNvPr id="14" name="Text 9"/>
          <p:cNvSpPr txBox="1"/>
          <p:nvPr/>
        </p:nvSpPr>
        <p:spPr>
          <a:xfrm>
            <a:off x="429768" y="5614416"/>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Important dates</a:t>
            </a:r>
            <a:endParaRPr lang="en-US" sz="860" dirty="0"/>
          </a:p>
        </p:txBody>
      </p:sp>
      <p:sp>
        <p:nvSpPr>
          <p:cNvPr id="15" name="Text 10"/>
          <p:cNvSpPr txBox="1"/>
          <p:nvPr/>
        </p:nvSpPr>
        <p:spPr>
          <a:xfrm>
            <a:off x="429768" y="5815584"/>
            <a:ext cx="640080" cy="146304"/>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[TBD]</a:t>
            </a:r>
            <a:endParaRPr lang="en-US" sz="760" dirty="0"/>
          </a:p>
        </p:txBody>
      </p:sp>
      <p:sp>
        <p:nvSpPr>
          <p:cNvPr id="16" name="Text 11"/>
          <p:cNvSpPr txBox="1"/>
          <p:nvPr/>
        </p:nvSpPr>
        <p:spPr>
          <a:xfrm>
            <a:off x="1115568" y="5815584"/>
            <a:ext cx="2532888" cy="146304"/>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2nd announcement with keynote speakers and key dates</a:t>
            </a:r>
            <a:endParaRPr lang="en-US" sz="760" dirty="0"/>
          </a:p>
        </p:txBody>
      </p:sp>
      <p:sp>
        <p:nvSpPr>
          <p:cNvPr id="17" name="Text 12"/>
          <p:cNvSpPr txBox="1"/>
          <p:nvPr/>
        </p:nvSpPr>
        <p:spPr>
          <a:xfrm>
            <a:off x="429768" y="5961888"/>
            <a:ext cx="640080" cy="146304"/>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[TBD]</a:t>
            </a:r>
            <a:endParaRPr lang="en-US" sz="760" dirty="0"/>
          </a:p>
        </p:txBody>
      </p:sp>
      <p:sp>
        <p:nvSpPr>
          <p:cNvPr id="18" name="Text 13"/>
          <p:cNvSpPr txBox="1"/>
          <p:nvPr/>
        </p:nvSpPr>
        <p:spPr>
          <a:xfrm>
            <a:off x="1115568" y="5961888"/>
            <a:ext cx="2532888" cy="146304"/>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Abstract submission opens</a:t>
            </a:r>
            <a:endParaRPr lang="en-US" sz="760" dirty="0"/>
          </a:p>
        </p:txBody>
      </p:sp>
      <p:sp>
        <p:nvSpPr>
          <p:cNvPr id="19" name="Text 14"/>
          <p:cNvSpPr txBox="1"/>
          <p:nvPr/>
        </p:nvSpPr>
        <p:spPr>
          <a:xfrm>
            <a:off x="429768" y="6108192"/>
            <a:ext cx="640080" cy="146304"/>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[TBD]</a:t>
            </a:r>
            <a:endParaRPr lang="en-US" sz="760" dirty="0"/>
          </a:p>
        </p:txBody>
      </p:sp>
      <p:sp>
        <p:nvSpPr>
          <p:cNvPr id="20" name="Text 15"/>
          <p:cNvSpPr txBox="1"/>
          <p:nvPr/>
        </p:nvSpPr>
        <p:spPr>
          <a:xfrm>
            <a:off x="1115568" y="6108192"/>
            <a:ext cx="2532888" cy="146304"/>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Abstract submission deadline</a:t>
            </a:r>
            <a:endParaRPr lang="en-US" sz="760" dirty="0"/>
          </a:p>
        </p:txBody>
      </p:sp>
      <p:sp>
        <p:nvSpPr>
          <p:cNvPr id="21" name="Text 16"/>
          <p:cNvSpPr txBox="1"/>
          <p:nvPr/>
        </p:nvSpPr>
        <p:spPr>
          <a:xfrm>
            <a:off x="429768" y="6254496"/>
            <a:ext cx="640080" cy="146304"/>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[TBD]</a:t>
            </a:r>
            <a:endParaRPr lang="en-US" sz="760" dirty="0"/>
          </a:p>
        </p:txBody>
      </p:sp>
      <p:sp>
        <p:nvSpPr>
          <p:cNvPr id="22" name="Text 17"/>
          <p:cNvSpPr txBox="1"/>
          <p:nvPr/>
        </p:nvSpPr>
        <p:spPr>
          <a:xfrm>
            <a:off x="1115568" y="6254496"/>
            <a:ext cx="2532888" cy="146304"/>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Early-bird registration deadline</a:t>
            </a:r>
            <a:endParaRPr lang="en-US" sz="760" dirty="0"/>
          </a:p>
        </p:txBody>
      </p:sp>
      <p:sp>
        <p:nvSpPr>
          <p:cNvPr id="23" name="Shape 18"/>
          <p:cNvSpPr/>
          <p:nvPr/>
        </p:nvSpPr>
        <p:spPr>
          <a:xfrm>
            <a:off x="429768" y="6967728"/>
            <a:ext cx="3218688" cy="1170432"/>
          </a:xfrm>
          <a:prstGeom prst="roundRect">
            <a:avLst>
              <a:gd name="adj" fmla="val 4688"/>
            </a:avLst>
          </a:prstGeom>
          <a:solidFill>
            <a:srgbClr val="E3E6F4"/>
          </a:solidFill>
          <a:ln w="6350">
            <a:solidFill>
              <a:srgbClr val="CFD4EA"/>
            </a:solidFill>
            <a:prstDash val="dash"/>
          </a:ln>
        </p:spPr>
      </p:sp>
      <p:sp>
        <p:nvSpPr>
          <p:cNvPr id="24" name="Text 19"/>
          <p:cNvSpPr txBox="1"/>
          <p:nvPr/>
        </p:nvSpPr>
        <p:spPr>
          <a:xfrm>
            <a:off x="502920" y="6967728"/>
            <a:ext cx="3072384" cy="1170432"/>
          </a:xfrm>
          <a:prstGeom prst="rect">
            <a:avLst/>
          </a:prstGeom>
          <a:noFill/>
          <a:ln/>
        </p:spPr>
        <p:txBody>
          <a:bodyPr wrap="square" lIns="0" tIns="0" rIns="0" bIns="0" rtlCol="0" anchor="b"/>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Myeongdong at night</a:t>
            </a:r>
            <a:endParaRPr lang="en-US" sz="760" dirty="0"/>
          </a:p>
          <a:p>
            <a:pPr indent="0" marL="0">
              <a:spcAft>
                <a:spcPts val="100"/>
              </a:spcAft>
              <a:buNone/>
            </a:pPr>
            <a:r>
              <a:rPr lang="en-US" sz="640" dirty="0">
                <a:solidFill>
                  <a:srgbClr val="5B6079"/>
                </a:solidFill>
                <a:latin typeface="Arial" pitchFamily="34" charset="0"/>
                <a:ea typeface="Arial" pitchFamily="34" charset="-122"/>
                <a:cs typeface="Arial" pitchFamily="34" charset="-120"/>
              </a:rPr>
              <a:t>Street-level view of the Myeongdong shopping district, a short walk from the venue.</a:t>
            </a:r>
            <a:endParaRPr lang="en-US" sz="760" dirty="0"/>
          </a:p>
          <a:p>
            <a:pPr indent="0" marL="0">
              <a:spcAft>
                <a:spcPts val="100"/>
              </a:spcAft>
              <a:buNone/>
            </a:pPr>
            <a:r>
              <a:rPr lang="en-US" sz="620" b="1" dirty="0">
                <a:solidFill>
                  <a:srgbClr val="D8432F"/>
                </a:solidFill>
                <a:latin typeface="Arial" pitchFamily="34" charset="0"/>
                <a:ea typeface="Arial" pitchFamily="34" charset="-122"/>
                <a:cs typeface="Arial" pitchFamily="34" charset="-120"/>
              </a:rPr>
              <a:t>Photo Korea search: 명동 야경</a:t>
            </a:r>
            <a:endParaRPr lang="en-US" sz="760" dirty="0"/>
          </a:p>
        </p:txBody>
      </p:sp>
      <p:sp>
        <p:nvSpPr>
          <p:cNvPr id="25" name="Text 20"/>
          <p:cNvSpPr txBox="1"/>
          <p:nvPr/>
        </p:nvSpPr>
        <p:spPr>
          <a:xfrm>
            <a:off x="502920" y="7013448"/>
            <a:ext cx="3072384" cy="164592"/>
          </a:xfrm>
          <a:prstGeom prst="rect">
            <a:avLst/>
          </a:prstGeom>
          <a:noFill/>
          <a:ln/>
        </p:spPr>
        <p:txBody>
          <a:bodyPr wrap="square" lIns="0" tIns="0" rIns="0" bIns="0" rtlCol="0" anchor="t"/>
          <a:lstStyle/>
          <a:p>
            <a:pPr indent="0" marL="0">
              <a:buNone/>
            </a:pPr>
            <a:r>
              <a:rPr lang="en-US" sz="600" i="1" dirty="0">
                <a:solidFill>
                  <a:srgbClr val="5B6079"/>
                </a:solidFill>
                <a:latin typeface="Arial" pitchFamily="34" charset="0"/>
                <a:ea typeface="Arial" pitchFamily="34" charset="-122"/>
                <a:cs typeface="Arial" pitchFamily="34" charset="-120"/>
              </a:rPr>
              <a:t>Click the picture icon to insert a photo</a:t>
            </a:r>
            <a:endParaRPr lang="en-US" sz="600" dirty="0"/>
          </a:p>
        </p:txBody>
      </p:sp>
      <p:sp>
        <p:nvSpPr>
          <p:cNvPr id="26" name="Shape 21"/>
          <p:cNvSpPr/>
          <p:nvPr/>
        </p:nvSpPr>
        <p:spPr>
          <a:xfrm>
            <a:off x="429768" y="8211312"/>
            <a:ext cx="3218688" cy="877824"/>
          </a:xfrm>
          <a:prstGeom prst="roundRect">
            <a:avLst>
              <a:gd name="adj" fmla="val 6250"/>
            </a:avLst>
          </a:prstGeom>
          <a:solidFill>
            <a:srgbClr val="E3E6F4"/>
          </a:solidFill>
          <a:ln w="6350">
            <a:solidFill>
              <a:srgbClr val="CFD4EA"/>
            </a:solidFill>
            <a:prstDash val="dash"/>
          </a:ln>
        </p:spPr>
      </p:sp>
      <p:sp>
        <p:nvSpPr>
          <p:cNvPr id="27" name="Text 22"/>
          <p:cNvSpPr txBox="1"/>
          <p:nvPr/>
        </p:nvSpPr>
        <p:spPr>
          <a:xfrm>
            <a:off x="502920" y="8211312"/>
            <a:ext cx="3072384" cy="877824"/>
          </a:xfrm>
          <a:prstGeom prst="rect">
            <a:avLst/>
          </a:prstGeom>
          <a:noFill/>
          <a:ln/>
        </p:spPr>
        <p:txBody>
          <a:bodyPr wrap="square" lIns="0" tIns="0" rIns="0" bIns="0" rtlCol="0" anchor="b"/>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Namsan &amp; N Seoul Tower</a:t>
            </a:r>
            <a:endParaRPr lang="en-US" sz="760" dirty="0"/>
          </a:p>
          <a:p>
            <a:pPr indent="0" marL="0">
              <a:spcAft>
                <a:spcPts val="100"/>
              </a:spcAft>
              <a:buNone/>
            </a:pPr>
            <a:r>
              <a:rPr lang="en-US" sz="640" dirty="0">
                <a:solidFill>
                  <a:srgbClr val="5B6079"/>
                </a:solidFill>
                <a:latin typeface="Arial" pitchFamily="34" charset="0"/>
                <a:ea typeface="Arial" pitchFamily="34" charset="-122"/>
                <a:cs typeface="Arial" pitchFamily="34" charset="-120"/>
              </a:rPr>
              <a:t>City view from Namsan, 20 min on foot or by cable car from Myeongdong.</a:t>
            </a:r>
            <a:endParaRPr lang="en-US" sz="760" dirty="0"/>
          </a:p>
          <a:p>
            <a:pPr indent="0" marL="0">
              <a:spcAft>
                <a:spcPts val="100"/>
              </a:spcAft>
              <a:buNone/>
            </a:pPr>
            <a:r>
              <a:rPr lang="en-US" sz="620" b="1" dirty="0">
                <a:solidFill>
                  <a:srgbClr val="D8432F"/>
                </a:solidFill>
                <a:latin typeface="Arial" pitchFamily="34" charset="0"/>
                <a:ea typeface="Arial" pitchFamily="34" charset="-122"/>
                <a:cs typeface="Arial" pitchFamily="34" charset="-120"/>
              </a:rPr>
              <a:t>Search: 남산 서울타워 야경</a:t>
            </a:r>
            <a:endParaRPr lang="en-US" sz="760" dirty="0"/>
          </a:p>
        </p:txBody>
      </p:sp>
      <p:sp>
        <p:nvSpPr>
          <p:cNvPr id="28" name="Text 23"/>
          <p:cNvSpPr txBox="1"/>
          <p:nvPr/>
        </p:nvSpPr>
        <p:spPr>
          <a:xfrm>
            <a:off x="502920" y="8257032"/>
            <a:ext cx="3072384" cy="164592"/>
          </a:xfrm>
          <a:prstGeom prst="rect">
            <a:avLst/>
          </a:prstGeom>
          <a:noFill/>
          <a:ln/>
        </p:spPr>
        <p:txBody>
          <a:bodyPr wrap="square" lIns="0" tIns="0" rIns="0" bIns="0" rtlCol="0" anchor="t"/>
          <a:lstStyle/>
          <a:p>
            <a:pPr indent="0" marL="0">
              <a:buNone/>
            </a:pPr>
            <a:r>
              <a:rPr lang="en-US" sz="600" i="1" dirty="0">
                <a:solidFill>
                  <a:srgbClr val="5B6079"/>
                </a:solidFill>
                <a:latin typeface="Arial" pitchFamily="34" charset="0"/>
                <a:ea typeface="Arial" pitchFamily="34" charset="-122"/>
                <a:cs typeface="Arial" pitchFamily="34" charset="-120"/>
              </a:rPr>
              <a:t>Click the picture icon to insert a photo</a:t>
            </a:r>
            <a:endParaRPr lang="en-US" sz="600" dirty="0"/>
          </a:p>
        </p:txBody>
      </p:sp>
      <p:sp>
        <p:nvSpPr>
          <p:cNvPr id="29" name="Text 24"/>
          <p:cNvSpPr txBox="1"/>
          <p:nvPr/>
        </p:nvSpPr>
        <p:spPr>
          <a:xfrm>
            <a:off x="3913632" y="448056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Venue</a:t>
            </a:r>
            <a:endParaRPr lang="en-US" sz="860" dirty="0"/>
          </a:p>
        </p:txBody>
      </p:sp>
      <p:sp>
        <p:nvSpPr>
          <p:cNvPr id="30" name="Text 25"/>
          <p:cNvSpPr txBox="1"/>
          <p:nvPr/>
        </p:nvSpPr>
        <p:spPr>
          <a:xfrm>
            <a:off x="3913632" y="4681728"/>
            <a:ext cx="3218688" cy="1097280"/>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The conference takes place at the </a:t>
            </a:r>
            <a:pPr indent="0" marL="0">
              <a:spcAft>
                <a:spcPts val="200"/>
              </a:spcAft>
              <a:buNone/>
            </a:pPr>
            <a:r>
              <a:rPr lang="en-US" sz="760" b="1" dirty="0">
                <a:solidFill>
                  <a:srgbClr val="1B2450"/>
                </a:solidFill>
                <a:latin typeface="Arial" pitchFamily="34" charset="0"/>
                <a:ea typeface="Arial" pitchFamily="34" charset="-122"/>
                <a:cs typeface="Arial" pitchFamily="34" charset="-120"/>
              </a:rPr>
              <a:t>Royal Hotel Seoul</a:t>
            </a:r>
            <a:pPr indent="0" marL="0">
              <a:spcAft>
                <a:spcPts val="200"/>
              </a:spcAft>
              <a:buNone/>
            </a:pPr>
            <a:r>
              <a:rPr lang="en-US" sz="760" dirty="0">
                <a:solidFill>
                  <a:srgbClr val="262B3D"/>
                </a:solidFill>
                <a:latin typeface="Arial" pitchFamily="34" charset="0"/>
                <a:ea typeface="Arial" pitchFamily="34" charset="-122"/>
                <a:cs typeface="Arial" pitchFamily="34" charset="-120"/>
              </a:rPr>
              <a:t> (61 Myeongdong-gil, Jung-gu) in the heart of Myeongdong, Seoul's most vibrant shopping and dining district, next to Myeongdong Cathedral and a few minutes' walk from Myeongdong and Euljiro 1-ga subway stations. Seoul is a city of 10 million where 600-year-old royal palaces and hanok villages sit beside a global hub of semiconductor, display and soft-materials research. Gyeongbokgung Palace, Bukchon Hanok Village, Namsan and the Cheonggyecheon stream are all within easy reach of the venue.</a:t>
            </a:r>
            <a:endParaRPr lang="en-US" sz="760" dirty="0"/>
          </a:p>
        </p:txBody>
      </p:sp>
      <p:sp>
        <p:nvSpPr>
          <p:cNvPr id="31" name="Text 26"/>
          <p:cNvSpPr txBox="1"/>
          <p:nvPr/>
        </p:nvSpPr>
        <p:spPr>
          <a:xfrm>
            <a:off x="3913632" y="5815584"/>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Getting there</a:t>
            </a:r>
            <a:endParaRPr lang="en-US" sz="860" dirty="0"/>
          </a:p>
        </p:txBody>
      </p:sp>
      <p:sp>
        <p:nvSpPr>
          <p:cNvPr id="32" name="Text 27"/>
          <p:cNvSpPr txBox="1"/>
          <p:nvPr/>
        </p:nvSpPr>
        <p:spPr>
          <a:xfrm>
            <a:off x="3913632" y="6016752"/>
            <a:ext cx="3218688" cy="384048"/>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Incheon International Airport (ICN) is linked to Seoul Station by the AREX express train (about 45 min); the venue is then one subway stop or a 10-minute taxi ride away.</a:t>
            </a:r>
            <a:endParaRPr lang="en-US" sz="760" dirty="0"/>
          </a:p>
        </p:txBody>
      </p:sp>
      <p:sp>
        <p:nvSpPr>
          <p:cNvPr id="33" name="Text 28"/>
          <p:cNvSpPr txBox="1"/>
          <p:nvPr/>
        </p:nvSpPr>
        <p:spPr>
          <a:xfrm>
            <a:off x="3913632" y="6419088"/>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Accommodation</a:t>
            </a:r>
            <a:endParaRPr lang="en-US" sz="860" dirty="0"/>
          </a:p>
        </p:txBody>
      </p:sp>
      <p:sp>
        <p:nvSpPr>
          <p:cNvPr id="34" name="Text 29"/>
          <p:cNvSpPr txBox="1"/>
          <p:nvPr/>
        </p:nvSpPr>
        <p:spPr>
          <a:xfrm>
            <a:off x="3913632" y="6620256"/>
            <a:ext cx="3218688" cy="502920"/>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A block of rooms at a conference rate will be pre-reserved at the Royal Hotel Seoul. Myeongdong offers a very wide range of hotels and guesthouses at every price level within walking distance of the venue; details will follow in the 2nd announcement.</a:t>
            </a:r>
            <a:endParaRPr lang="en-US" sz="760" dirty="0"/>
          </a:p>
        </p:txBody>
      </p:sp>
      <p:sp>
        <p:nvSpPr>
          <p:cNvPr id="35" name="Text 30"/>
          <p:cNvSpPr txBox="1"/>
          <p:nvPr/>
        </p:nvSpPr>
        <p:spPr>
          <a:xfrm>
            <a:off x="3913632" y="713232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Social program </a:t>
            </a:r>
            <a:pPr indent="0" marL="0">
              <a:buNone/>
            </a:pPr>
            <a:r>
              <a:rPr lang="en-US" sz="700" b="1" dirty="0">
                <a:solidFill>
                  <a:srgbClr val="5B6079"/>
                </a:solidFill>
                <a:latin typeface="Arial" pitchFamily="34" charset="0"/>
                <a:ea typeface="Arial" pitchFamily="34" charset="-122"/>
                <a:cs typeface="Arial" pitchFamily="34" charset="-120"/>
              </a:rPr>
              <a:t>(tentative)</a:t>
            </a:r>
            <a:endParaRPr lang="en-US" sz="860" dirty="0"/>
          </a:p>
        </p:txBody>
      </p:sp>
      <p:sp>
        <p:nvSpPr>
          <p:cNvPr id="36" name="Text 31"/>
          <p:cNvSpPr txBox="1"/>
          <p:nvPr/>
        </p:nvSpPr>
        <p:spPr>
          <a:xfrm>
            <a:off x="3913632" y="7333488"/>
            <a:ext cx="3218688" cy="1005840"/>
          </a:xfrm>
          <a:prstGeom prst="rect">
            <a:avLst/>
          </a:prstGeom>
          <a:noFill/>
          <a:ln/>
        </p:spPr>
        <p:txBody>
          <a:bodyPr wrap="square" lIns="0" tIns="0" rIns="0" bIns="0" rtlCol="0" anchor="t"/>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Welcome reception</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1]</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Welcome reception at the conference hotel on the first evening.</a:t>
            </a:r>
            <a:endParaRPr lang="en-US" sz="760" dirty="0"/>
          </a:p>
          <a:p>
            <a:pPr indent="0" marL="0">
              <a:spcAft>
                <a:spcPts val="100"/>
              </a:spcAft>
              <a:buNone/>
            </a:pPr>
            <a:r>
              <a:rPr lang="en-US" sz="760" b="1" dirty="0">
                <a:solidFill>
                  <a:srgbClr val="1B2450"/>
                </a:solidFill>
                <a:latin typeface="Arial" pitchFamily="34" charset="0"/>
                <a:ea typeface="Arial" pitchFamily="34" charset="-122"/>
                <a:cs typeface="Arial" pitchFamily="34" charset="-120"/>
              </a:rPr>
              <a:t>Conference dinner</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3]</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Korean banquet in the city centre with a traditional performance.</a:t>
            </a:r>
            <a:endParaRPr lang="en-US" sz="760" dirty="0"/>
          </a:p>
          <a:p>
            <a:pPr indent="0" marL="0">
              <a:spcAft>
                <a:spcPts val="100"/>
              </a:spcAft>
              <a:buNone/>
            </a:pPr>
            <a:r>
              <a:rPr lang="en-US" sz="760" b="1" dirty="0">
                <a:solidFill>
                  <a:srgbClr val="1B2450"/>
                </a:solidFill>
                <a:latin typeface="Arial" pitchFamily="34" charset="0"/>
                <a:ea typeface="Arial" pitchFamily="34" charset="-122"/>
                <a:cs typeface="Arial" pitchFamily="34" charset="-120"/>
              </a:rPr>
              <a:t>Cultural afternoon</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4]</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Gyeongbokgung Palace and Bukchon Hanok Village, or a Han River evening cruise.</a:t>
            </a:r>
            <a:endParaRPr lang="en-US" sz="760" dirty="0"/>
          </a:p>
        </p:txBody>
      </p:sp>
      <p:sp>
        <p:nvSpPr>
          <p:cNvPr id="37" name="Shape 32"/>
          <p:cNvSpPr/>
          <p:nvPr/>
        </p:nvSpPr>
        <p:spPr>
          <a:xfrm>
            <a:off x="3913632" y="8394192"/>
            <a:ext cx="1563624" cy="694944"/>
          </a:xfrm>
          <a:prstGeom prst="roundRect">
            <a:avLst>
              <a:gd name="adj" fmla="val 7895"/>
            </a:avLst>
          </a:prstGeom>
          <a:solidFill>
            <a:srgbClr val="E3E6F4"/>
          </a:solidFill>
          <a:ln w="6350">
            <a:solidFill>
              <a:srgbClr val="CFD4EA"/>
            </a:solidFill>
            <a:prstDash val="dash"/>
          </a:ln>
        </p:spPr>
      </p:sp>
      <p:sp>
        <p:nvSpPr>
          <p:cNvPr id="38" name="Text 33"/>
          <p:cNvSpPr txBox="1"/>
          <p:nvPr/>
        </p:nvSpPr>
        <p:spPr>
          <a:xfrm>
            <a:off x="3986784" y="8394192"/>
            <a:ext cx="1417320" cy="694944"/>
          </a:xfrm>
          <a:prstGeom prst="rect">
            <a:avLst/>
          </a:prstGeom>
          <a:noFill/>
          <a:ln/>
        </p:spPr>
        <p:txBody>
          <a:bodyPr wrap="square" lIns="0" tIns="0" rIns="0" bIns="0" rtlCol="0" anchor="b"/>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Gyeongbokgung Palace</a:t>
            </a:r>
            <a:endParaRPr lang="en-US" sz="760" dirty="0"/>
          </a:p>
          <a:p>
            <a:pPr indent="0" marL="0">
              <a:spcAft>
                <a:spcPts val="100"/>
              </a:spcAft>
              <a:buNone/>
            </a:pPr>
            <a:r>
              <a:rPr lang="en-US" sz="640" dirty="0">
                <a:solidFill>
                  <a:srgbClr val="5B6079"/>
                </a:solidFill>
                <a:latin typeface="Arial" pitchFamily="34" charset="0"/>
                <a:ea typeface="Arial" pitchFamily="34" charset="-122"/>
                <a:cs typeface="Arial" pitchFamily="34" charset="-120"/>
              </a:rPr>
              <a:t>Royal palace, 15 min from Myeongdong.</a:t>
            </a:r>
            <a:endParaRPr lang="en-US" sz="760" dirty="0"/>
          </a:p>
          <a:p>
            <a:pPr indent="0" marL="0">
              <a:spcAft>
                <a:spcPts val="100"/>
              </a:spcAft>
              <a:buNone/>
            </a:pPr>
            <a:r>
              <a:rPr lang="en-US" sz="620" b="1" dirty="0">
                <a:solidFill>
                  <a:srgbClr val="D8432F"/>
                </a:solidFill>
                <a:latin typeface="Arial" pitchFamily="34" charset="0"/>
                <a:ea typeface="Arial" pitchFamily="34" charset="-122"/>
                <a:cs typeface="Arial" pitchFamily="34" charset="-120"/>
              </a:rPr>
              <a:t>Search: 경복궁 근정전</a:t>
            </a:r>
            <a:endParaRPr lang="en-US" sz="760" dirty="0"/>
          </a:p>
        </p:txBody>
      </p:sp>
      <p:sp>
        <p:nvSpPr>
          <p:cNvPr id="39" name="Text 34"/>
          <p:cNvSpPr txBox="1"/>
          <p:nvPr/>
        </p:nvSpPr>
        <p:spPr>
          <a:xfrm>
            <a:off x="3986784" y="8439912"/>
            <a:ext cx="1417320" cy="164592"/>
          </a:xfrm>
          <a:prstGeom prst="rect">
            <a:avLst/>
          </a:prstGeom>
          <a:noFill/>
          <a:ln/>
        </p:spPr>
        <p:txBody>
          <a:bodyPr wrap="square" lIns="0" tIns="0" rIns="0" bIns="0" rtlCol="0" anchor="t"/>
          <a:lstStyle/>
          <a:p>
            <a:pPr indent="0" marL="0">
              <a:buNone/>
            </a:pPr>
            <a:r>
              <a:rPr lang="en-US" sz="600" i="1" dirty="0">
                <a:solidFill>
                  <a:srgbClr val="5B6079"/>
                </a:solidFill>
                <a:latin typeface="Arial" pitchFamily="34" charset="0"/>
                <a:ea typeface="Arial" pitchFamily="34" charset="-122"/>
                <a:cs typeface="Arial" pitchFamily="34" charset="-120"/>
              </a:rPr>
              <a:t>Click the picture icon to insert a photo</a:t>
            </a:r>
            <a:endParaRPr lang="en-US" sz="600" dirty="0"/>
          </a:p>
        </p:txBody>
      </p:sp>
      <p:sp>
        <p:nvSpPr>
          <p:cNvPr id="40" name="Shape 35"/>
          <p:cNvSpPr/>
          <p:nvPr/>
        </p:nvSpPr>
        <p:spPr>
          <a:xfrm>
            <a:off x="5568696" y="8394192"/>
            <a:ext cx="1563624" cy="694944"/>
          </a:xfrm>
          <a:prstGeom prst="roundRect">
            <a:avLst>
              <a:gd name="adj" fmla="val 7895"/>
            </a:avLst>
          </a:prstGeom>
          <a:solidFill>
            <a:srgbClr val="E3E6F4"/>
          </a:solidFill>
          <a:ln w="6350">
            <a:solidFill>
              <a:srgbClr val="CFD4EA"/>
            </a:solidFill>
            <a:prstDash val="dash"/>
          </a:ln>
        </p:spPr>
      </p:sp>
      <p:sp>
        <p:nvSpPr>
          <p:cNvPr id="41" name="Text 36"/>
          <p:cNvSpPr txBox="1"/>
          <p:nvPr/>
        </p:nvSpPr>
        <p:spPr>
          <a:xfrm>
            <a:off x="5641848" y="8394192"/>
            <a:ext cx="1417320" cy="694944"/>
          </a:xfrm>
          <a:prstGeom prst="rect">
            <a:avLst/>
          </a:prstGeom>
          <a:noFill/>
          <a:ln/>
        </p:spPr>
        <p:txBody>
          <a:bodyPr wrap="square" lIns="0" tIns="0" rIns="0" bIns="0" rtlCol="0" anchor="b"/>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Han River at dusk</a:t>
            </a:r>
            <a:endParaRPr lang="en-US" sz="760" dirty="0"/>
          </a:p>
          <a:p>
            <a:pPr indent="0" marL="0">
              <a:spcAft>
                <a:spcPts val="100"/>
              </a:spcAft>
              <a:buNone/>
            </a:pPr>
            <a:r>
              <a:rPr lang="en-US" sz="640" dirty="0">
                <a:solidFill>
                  <a:srgbClr val="5B6079"/>
                </a:solidFill>
                <a:latin typeface="Arial" pitchFamily="34" charset="0"/>
                <a:ea typeface="Arial" pitchFamily="34" charset="-122"/>
                <a:cs typeface="Arial" pitchFamily="34" charset="-120"/>
              </a:rPr>
              <a:t>Banpo Bridge fountain / river cruise.</a:t>
            </a:r>
            <a:endParaRPr lang="en-US" sz="760" dirty="0"/>
          </a:p>
          <a:p>
            <a:pPr indent="0" marL="0">
              <a:spcAft>
                <a:spcPts val="100"/>
              </a:spcAft>
              <a:buNone/>
            </a:pPr>
            <a:r>
              <a:rPr lang="en-US" sz="620" b="1" dirty="0">
                <a:solidFill>
                  <a:srgbClr val="D8432F"/>
                </a:solidFill>
                <a:latin typeface="Arial" pitchFamily="34" charset="0"/>
                <a:ea typeface="Arial" pitchFamily="34" charset="-122"/>
                <a:cs typeface="Arial" pitchFamily="34" charset="-120"/>
              </a:rPr>
              <a:t>Search: 한강 반포대교 야경</a:t>
            </a:r>
            <a:endParaRPr lang="en-US" sz="760" dirty="0"/>
          </a:p>
        </p:txBody>
      </p:sp>
      <p:sp>
        <p:nvSpPr>
          <p:cNvPr id="42" name="Text 37"/>
          <p:cNvSpPr txBox="1"/>
          <p:nvPr/>
        </p:nvSpPr>
        <p:spPr>
          <a:xfrm>
            <a:off x="5641848" y="8439912"/>
            <a:ext cx="1417320" cy="164592"/>
          </a:xfrm>
          <a:prstGeom prst="rect">
            <a:avLst/>
          </a:prstGeom>
          <a:noFill/>
          <a:ln/>
        </p:spPr>
        <p:txBody>
          <a:bodyPr wrap="square" lIns="0" tIns="0" rIns="0" bIns="0" rtlCol="0" anchor="t"/>
          <a:lstStyle/>
          <a:p>
            <a:pPr indent="0" marL="0">
              <a:buNone/>
            </a:pPr>
            <a:r>
              <a:rPr lang="en-US" sz="600" i="1" dirty="0">
                <a:solidFill>
                  <a:srgbClr val="5B6079"/>
                </a:solidFill>
                <a:latin typeface="Arial" pitchFamily="34" charset="0"/>
                <a:ea typeface="Arial" pitchFamily="34" charset="-122"/>
                <a:cs typeface="Arial" pitchFamily="34" charset="-120"/>
              </a:rPr>
              <a:t>Click the picture icon to insert a photo</a:t>
            </a:r>
            <a:endParaRPr lang="en-US" sz="600" dirty="0"/>
          </a:p>
        </p:txBody>
      </p:sp>
      <p:sp>
        <p:nvSpPr>
          <p:cNvPr id="43" name="Shape 38"/>
          <p:cNvSpPr/>
          <p:nvPr/>
        </p:nvSpPr>
        <p:spPr>
          <a:xfrm>
            <a:off x="429768" y="9253728"/>
            <a:ext cx="6702552" cy="0"/>
          </a:xfrm>
          <a:prstGeom prst="line">
            <a:avLst/>
          </a:prstGeom>
          <a:noFill/>
          <a:ln w="9525">
            <a:solidFill>
              <a:srgbClr val="CFD4EA"/>
            </a:solidFill>
            <a:prstDash val="solid"/>
          </a:ln>
        </p:spPr>
      </p:sp>
      <p:sp>
        <p:nvSpPr>
          <p:cNvPr id="44" name="Shape 39"/>
          <p:cNvSpPr/>
          <p:nvPr/>
        </p:nvSpPr>
        <p:spPr>
          <a:xfrm>
            <a:off x="429768" y="9363456"/>
            <a:ext cx="932688" cy="347472"/>
          </a:xfrm>
          <a:prstGeom prst="roundRect">
            <a:avLst>
              <a:gd name="adj" fmla="val 10526"/>
            </a:avLst>
          </a:prstGeom>
          <a:solidFill>
            <a:srgbClr val="FFFFFF"/>
          </a:solidFill>
          <a:ln w="9525">
            <a:solidFill>
              <a:srgbClr val="CFD4EA"/>
            </a:solidFill>
            <a:prstDash val="dash"/>
          </a:ln>
        </p:spPr>
      </p:sp>
      <p:sp>
        <p:nvSpPr>
          <p:cNvPr id="45" name="Text 40"/>
          <p:cNvSpPr txBox="1"/>
          <p:nvPr/>
        </p:nvSpPr>
        <p:spPr>
          <a:xfrm>
            <a:off x="429768"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Host institution logo</a:t>
            </a:r>
            <a:endParaRPr lang="en-US" sz="620" dirty="0"/>
          </a:p>
        </p:txBody>
      </p:sp>
      <p:sp>
        <p:nvSpPr>
          <p:cNvPr id="46" name="Shape 41"/>
          <p:cNvSpPr/>
          <p:nvPr/>
        </p:nvSpPr>
        <p:spPr>
          <a:xfrm>
            <a:off x="1453896" y="9363456"/>
            <a:ext cx="932688" cy="347472"/>
          </a:xfrm>
          <a:prstGeom prst="roundRect">
            <a:avLst>
              <a:gd name="adj" fmla="val 10526"/>
            </a:avLst>
          </a:prstGeom>
          <a:solidFill>
            <a:srgbClr val="FFFFFF"/>
          </a:solidFill>
          <a:ln w="9525">
            <a:solidFill>
              <a:srgbClr val="CFD4EA"/>
            </a:solidFill>
            <a:prstDash val="dash"/>
          </a:ln>
        </p:spPr>
      </p:sp>
      <p:sp>
        <p:nvSpPr>
          <p:cNvPr id="47" name="Text 42"/>
          <p:cNvSpPr txBox="1"/>
          <p:nvPr/>
        </p:nvSpPr>
        <p:spPr>
          <a:xfrm>
            <a:off x="1453896"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Society / sponsor logo</a:t>
            </a:r>
            <a:endParaRPr lang="en-US" sz="620" dirty="0"/>
          </a:p>
        </p:txBody>
      </p:sp>
      <p:sp>
        <p:nvSpPr>
          <p:cNvPr id="48" name="Shape 43"/>
          <p:cNvSpPr/>
          <p:nvPr/>
        </p:nvSpPr>
        <p:spPr>
          <a:xfrm>
            <a:off x="2478024" y="9363456"/>
            <a:ext cx="932688" cy="347472"/>
          </a:xfrm>
          <a:prstGeom prst="roundRect">
            <a:avLst>
              <a:gd name="adj" fmla="val 10526"/>
            </a:avLst>
          </a:prstGeom>
          <a:solidFill>
            <a:srgbClr val="FFFFFF"/>
          </a:solidFill>
          <a:ln w="9525">
            <a:solidFill>
              <a:srgbClr val="CFD4EA"/>
            </a:solidFill>
            <a:prstDash val="dash"/>
          </a:ln>
        </p:spPr>
      </p:sp>
      <p:sp>
        <p:nvSpPr>
          <p:cNvPr id="49" name="Text 44"/>
          <p:cNvSpPr txBox="1"/>
          <p:nvPr/>
        </p:nvSpPr>
        <p:spPr>
          <a:xfrm>
            <a:off x="2478024"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Seoul CVB / KTO logo</a:t>
            </a:r>
            <a:endParaRPr lang="en-US" sz="620" dirty="0"/>
          </a:p>
        </p:txBody>
      </p:sp>
      <p:sp>
        <p:nvSpPr>
          <p:cNvPr id="50" name="Text 45"/>
          <p:cNvSpPr txBox="1"/>
          <p:nvPr/>
        </p:nvSpPr>
        <p:spPr>
          <a:xfrm>
            <a:off x="3931920" y="9326880"/>
            <a:ext cx="3200400" cy="420624"/>
          </a:xfrm>
          <a:prstGeom prst="rect">
            <a:avLst/>
          </a:prstGeom>
          <a:noFill/>
          <a:ln/>
        </p:spPr>
        <p:txBody>
          <a:bodyPr wrap="square" lIns="0" tIns="0" rIns="0" bIns="0" rtlCol="0" anchor="ctr"/>
          <a:lstStyle/>
          <a:p>
            <a:pPr algn="r" indent="0" marL="0">
              <a:buNone/>
            </a:pPr>
            <a:r>
              <a:rPr lang="en-US" sz="610" b="1" dirty="0">
                <a:solidFill>
                  <a:srgbClr val="2C3A7A"/>
                </a:solidFill>
                <a:latin typeface="Arial" pitchFamily="34" charset="0"/>
                <a:ea typeface="Arial" pitchFamily="34" charset="-122"/>
                <a:cs typeface="Arial" pitchFamily="34" charset="-120"/>
              </a:rPr>
              <a:t>Photo credits: </a:t>
            </a:r>
            <a:pPr algn="r" indent="0" marL="0">
              <a:buNone/>
            </a:pPr>
            <a:r>
              <a:rPr lang="en-US" sz="610" dirty="0">
                <a:solidFill>
                  <a:srgbClr val="5B6079"/>
                </a:solidFill>
                <a:latin typeface="Arial" pitchFamily="34" charset="0"/>
                <a:ea typeface="Arial" pitchFamily="34" charset="-122"/>
                <a:cs typeface="Arial" pitchFamily="34" charset="-120"/>
              </a:rPr>
              <a:t>© Korea Tourism Organization Photo Korea – photographer name (fill in when images are inserted).</a:t>
            </a:r>
            <a:endParaRPr lang="en-US" sz="610" dirty="0"/>
          </a:p>
          <a:p>
            <a:pPr algn="r" indent="0" marL="0">
              <a:buNone/>
            </a:pPr>
            <a:r>
              <a:rPr lang="en-US" sz="610" dirty="0">
                <a:solidFill>
                  <a:srgbClr val="5B6079"/>
                </a:solidFill>
                <a:latin typeface="Arial" pitchFamily="34" charset="0"/>
                <a:ea typeface="Arial" pitchFamily="34" charset="-122"/>
                <a:cs typeface="Arial" pitchFamily="34" charset="-120"/>
              </a:rPr>
              <a:t>Skyline illustration: ILCEC 2027 organizing committee.</a:t>
            </a:r>
            <a:endParaRPr lang="en-US" sz="610" dirty="0"/>
          </a:p>
        </p:txBody>
      </p:sp>
      <p:sp>
        <p:nvSpPr>
          <p:cNvPr id="52" name="Text 0"/>
          <p:cNvSpPr/>
          <p:nvPr>
            <p:ph type="pic" idx="101" hasCustomPrompt="1"/>
          </p:nvPr>
        </p:nvSpPr>
        <p:spPr>
          <a:xfrm>
            <a:off x="429768" y="6967728"/>
            <a:ext cx="3218688" cy="1170432"/>
          </a:xfrm>
          <a:prstGeom prst="rect">
            <a:avLst/>
          </a:prstGeom>
          <a:noFill/>
          <a:ln/>
        </p:spPr>
        <p:txBody>
          <a:bodyPr wrap="square" rtlCol="0"/>
          <a:lstStyle/>
          <a:p>
            <a:pPr indent="0" marL="0">
              <a:buNone/>
            </a:pPr>
            <a:endParaRPr lang="en-US" dirty="0"/>
          </a:p>
        </p:txBody>
      </p:sp>
      <p:sp>
        <p:nvSpPr>
          <p:cNvPr id="53" name="Text 0"/>
          <p:cNvSpPr/>
          <p:nvPr>
            <p:ph type="pic" idx="102" hasCustomPrompt="1"/>
          </p:nvPr>
        </p:nvSpPr>
        <p:spPr>
          <a:xfrm>
            <a:off x="429768" y="8211312"/>
            <a:ext cx="3218688" cy="877824"/>
          </a:xfrm>
          <a:prstGeom prst="rect">
            <a:avLst/>
          </a:prstGeom>
          <a:noFill/>
          <a:ln/>
        </p:spPr>
        <p:txBody>
          <a:bodyPr wrap="square" rtlCol="0"/>
          <a:lstStyle/>
          <a:p>
            <a:pPr indent="0" marL="0">
              <a:buNone/>
            </a:pPr>
            <a:endParaRPr lang="en-US" dirty="0"/>
          </a:p>
        </p:txBody>
      </p:sp>
      <p:sp>
        <p:nvSpPr>
          <p:cNvPr id="54" name="Text 0"/>
          <p:cNvSpPr/>
          <p:nvPr>
            <p:ph type="pic" idx="103" hasCustomPrompt="1"/>
          </p:nvPr>
        </p:nvSpPr>
        <p:spPr>
          <a:xfrm>
            <a:off x="3913632" y="8394192"/>
            <a:ext cx="1563624" cy="694944"/>
          </a:xfrm>
          <a:prstGeom prst="rect">
            <a:avLst/>
          </a:prstGeom>
          <a:noFill/>
          <a:ln/>
        </p:spPr>
        <p:txBody>
          <a:bodyPr wrap="square" rtlCol="0"/>
          <a:lstStyle/>
          <a:p>
            <a:pPr indent="0" marL="0">
              <a:buNone/>
            </a:pPr>
            <a:endParaRPr lang="en-US" dirty="0"/>
          </a:p>
        </p:txBody>
      </p:sp>
      <p:sp>
        <p:nvSpPr>
          <p:cNvPr id="55" name="Text 0"/>
          <p:cNvSpPr/>
          <p:nvPr>
            <p:ph idx="104" hasCustomPrompt="1"/>
          </p:nvPr>
        </p:nvSpPr>
        <p:spPr>
          <a:xfrm>
            <a:off x="5568696" y="8394192"/>
            <a:ext cx="1563624" cy="694944"/>
          </a:xfrm>
          <a:prstGeom prst="rect">
            <a:avLst/>
          </a:prstGeom>
          <a:noFill/>
          <a:ln/>
        </p:spPr>
        <p:txBody>
          <a:bodyPr wrap="square" rtlCol="0"/>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user/spel-website/ilcec2027/flyer/pptx/hero.png">    </p:cNvPr>
          <p:cNvPicPr>
            <a:picLocks noChangeAspect="1"/>
          </p:cNvPicPr>
          <p:nvPr>
            <p:ph type="pic" idx="100" hasCustomPrompt="1"/>
          </p:nvPr>
        </p:nvPicPr>
        <p:blipFill>
          <a:blip r:embed="rId1"/>
          <a:stretch>
            <a:fillRect/>
          </a:stretch>
        </p:blipFill>
        <p:spPr>
          <a:xfrm>
            <a:off x="429768" y="393192"/>
            <a:ext cx="6702552" cy="1444752"/>
          </a:xfrm>
          <a:prstGeom prst="rect">
            <a:avLst/>
          </a:prstGeom>
        </p:spPr>
      </p:pic>
      <p:sp>
        <p:nvSpPr>
          <p:cNvPr id="3" name="Text 0"/>
          <p:cNvSpPr txBox="1"/>
          <p:nvPr/>
        </p:nvSpPr>
        <p:spPr>
          <a:xfrm>
            <a:off x="594360" y="1536192"/>
            <a:ext cx="1920240" cy="228600"/>
          </a:xfrm>
          <a:prstGeom prst="rect">
            <a:avLst/>
          </a:prstGeom>
          <a:solidFill>
            <a:srgbClr val="1B2450">
              <a:alpha val="55000"/>
            </a:srgbClr>
          </a:solidFill>
          <a:ln w="6350">
            <a:solidFill>
              <a:srgbClr val="FFFFFF">
                <a:alpha val="55000"/>
              </a:srgbClr>
            </a:solidFill>
          </a:ln>
        </p:spPr>
        <p:txBody>
          <a:bodyPr wrap="square" lIns="0" tIns="76200" rIns="76200" bIns="0" rtlCol="0" anchor="ctr"/>
          <a:lstStyle/>
          <a:p>
            <a:pPr indent="0" marL="0">
              <a:buNone/>
            </a:pPr>
            <a:r>
              <a:rPr lang="en-US" sz="800" b="1" spc="300" kern="0" dirty="0">
                <a:solidFill>
                  <a:srgbClr val="FFFFFF"/>
                </a:solidFill>
                <a:latin typeface="Arial" pitchFamily="34" charset="0"/>
                <a:ea typeface="Arial" pitchFamily="34" charset="-122"/>
                <a:cs typeface="Arial" pitchFamily="34" charset="-120"/>
              </a:rPr>
              <a:t>SEOUL  ·  KOREA  ·  2027</a:t>
            </a:r>
            <a:endParaRPr lang="en-US" sz="800" dirty="0"/>
          </a:p>
        </p:txBody>
      </p:sp>
      <p:pic>
        <p:nvPicPr>
          <p:cNvPr id="4" name="Image 1" descr="/home/user/spel-website/ilcec2027/flyer/pptx/motif.png">    </p:cNvPr>
          <p:cNvPicPr>
            <a:picLocks noChangeAspect="1"/>
          </p:cNvPicPr>
          <p:nvPr/>
        </p:nvPicPr>
        <p:blipFill>
          <a:blip r:embed="rId2"/>
          <a:stretch>
            <a:fillRect/>
          </a:stretch>
        </p:blipFill>
        <p:spPr>
          <a:xfrm>
            <a:off x="5989320" y="18288"/>
            <a:ext cx="1417320" cy="1417320"/>
          </a:xfrm>
          <a:prstGeom prst="rect">
            <a:avLst/>
          </a:prstGeom>
        </p:spPr>
      </p:pic>
      <p:pic>
        <p:nvPicPr>
          <p:cNvPr id="5" name="Image 2" descr="/home/user/spel-website/ilcec2027/flyer/pptx/motif2.png">    </p:cNvPr>
          <p:cNvPicPr>
            <a:picLocks noChangeAspect="1"/>
          </p:cNvPicPr>
          <p:nvPr/>
        </p:nvPicPr>
        <p:blipFill>
          <a:blip r:embed="rId3"/>
          <a:stretch>
            <a:fillRect/>
          </a:stretch>
        </p:blipFill>
        <p:spPr>
          <a:xfrm>
            <a:off x="4645152" y="1645920"/>
            <a:ext cx="502920" cy="502920"/>
          </a:xfrm>
          <a:prstGeom prst="rect">
            <a:avLst/>
          </a:prstGeom>
        </p:spPr>
      </p:pic>
      <p:sp>
        <p:nvSpPr>
          <p:cNvPr id="6" name="Text 1"/>
          <p:cNvSpPr txBox="1"/>
          <p:nvPr/>
        </p:nvSpPr>
        <p:spPr>
          <a:xfrm>
            <a:off x="429768" y="1993392"/>
            <a:ext cx="4343400" cy="868680"/>
          </a:xfrm>
          <a:prstGeom prst="rect">
            <a:avLst/>
          </a:prstGeom>
          <a:noFill/>
          <a:ln/>
        </p:spPr>
        <p:txBody>
          <a:bodyPr wrap="square" lIns="0" tIns="0" rIns="0" bIns="0" rtlCol="0" anchor="b"/>
          <a:lstStyle/>
          <a:p>
            <a:pPr indent="0" marL="0">
              <a:lnSpc>
                <a:spcPct val="95000"/>
              </a:lnSpc>
              <a:buNone/>
            </a:pPr>
            <a:r>
              <a:rPr lang="en-US" sz="2500" b="1" dirty="0">
                <a:solidFill>
                  <a:srgbClr val="1B2450"/>
                </a:solidFill>
                <a:latin typeface="Arial" pitchFamily="34" charset="0"/>
                <a:ea typeface="Arial" pitchFamily="34" charset="-122"/>
                <a:cs typeface="Arial" pitchFamily="34" charset="-120"/>
              </a:rPr>
              <a:t>International Liquid Crystal</a:t>
            </a:r>
            <a:endParaRPr lang="en-US" sz="2500" dirty="0"/>
          </a:p>
          <a:p>
            <a:pPr indent="0" marL="0">
              <a:lnSpc>
                <a:spcPct val="95000"/>
              </a:lnSpc>
              <a:buNone/>
            </a:pPr>
            <a:r>
              <a:rPr lang="en-US" sz="2500" b="1" dirty="0">
                <a:solidFill>
                  <a:srgbClr val="1B2450"/>
                </a:solidFill>
                <a:latin typeface="Arial" pitchFamily="34" charset="0"/>
                <a:ea typeface="Arial" pitchFamily="34" charset="-122"/>
                <a:cs typeface="Arial" pitchFamily="34" charset="-120"/>
              </a:rPr>
              <a:t>Elastomer Conference</a:t>
            </a:r>
            <a:endParaRPr lang="en-US" sz="2500" dirty="0"/>
          </a:p>
        </p:txBody>
      </p:sp>
      <p:sp>
        <p:nvSpPr>
          <p:cNvPr id="7" name="Text 2"/>
          <p:cNvSpPr txBox="1"/>
          <p:nvPr/>
        </p:nvSpPr>
        <p:spPr>
          <a:xfrm>
            <a:off x="5138928" y="1993392"/>
            <a:ext cx="2057400" cy="868680"/>
          </a:xfrm>
          <a:prstGeom prst="rect">
            <a:avLst/>
          </a:prstGeom>
          <a:noFill/>
          <a:ln/>
        </p:spPr>
        <p:txBody>
          <a:bodyPr wrap="square" lIns="0" tIns="0" rIns="0" bIns="0" rtlCol="0" anchor="b"/>
          <a:lstStyle/>
          <a:p>
            <a:pPr indent="0" marL="0">
              <a:lnSpc>
                <a:spcPct val="110000"/>
              </a:lnSpc>
              <a:buNone/>
            </a:pPr>
            <a:r>
              <a:rPr lang="en-US" sz="1500" b="1" dirty="0">
                <a:solidFill>
                  <a:srgbClr val="D8432F"/>
                </a:solidFill>
                <a:latin typeface="Arial" pitchFamily="34" charset="0"/>
                <a:ea typeface="Arial" pitchFamily="34" charset="-122"/>
                <a:cs typeface="Arial" pitchFamily="34" charset="-120"/>
              </a:rPr>
              <a:t>ILCEC 2027</a:t>
            </a:r>
            <a:endParaRPr lang="en-US" sz="1500" dirty="0"/>
          </a:p>
          <a:p>
            <a:pPr indent="0" marL="0">
              <a:lnSpc>
                <a:spcPct val="110000"/>
              </a:lnSpc>
              <a:buNone/>
            </a:pPr>
            <a:r>
              <a:rPr lang="en-US" sz="1050" b="1" dirty="0">
                <a:solidFill>
                  <a:srgbClr val="2C3A7A"/>
                </a:solidFill>
                <a:latin typeface="Arial" pitchFamily="34" charset="0"/>
                <a:ea typeface="Arial" pitchFamily="34" charset="-122"/>
                <a:cs typeface="Arial" pitchFamily="34" charset="-120"/>
              </a:rPr>
              <a:t>on </a:t>
            </a:r>
            <a:pPr indent="0" marL="0">
              <a:lnSpc>
                <a:spcPct val="110000"/>
              </a:lnSpc>
              <a:buNone/>
            </a:pPr>
            <a:r>
              <a:rPr lang="en-US" sz="1050" b="1" dirty="0">
                <a:solidFill>
                  <a:srgbClr val="D8432F"/>
                </a:solidFill>
                <a:latin typeface="Arial" pitchFamily="34" charset="0"/>
                <a:ea typeface="Arial" pitchFamily="34" charset="-122"/>
                <a:cs typeface="Arial" pitchFamily="34" charset="-120"/>
              </a:rPr>
              <a:t>[DD–DD Month 2027]</a:t>
            </a:r>
            <a:endParaRPr lang="en-US" sz="1500" dirty="0"/>
          </a:p>
          <a:p>
            <a:pPr indent="0" marL="0">
              <a:lnSpc>
                <a:spcPct val="110000"/>
              </a:lnSpc>
              <a:buNone/>
            </a:pPr>
            <a:r>
              <a:rPr lang="en-US" sz="1050" b="1" dirty="0">
                <a:solidFill>
                  <a:srgbClr val="2C3A7A"/>
                </a:solidFill>
                <a:latin typeface="Arial" pitchFamily="34" charset="0"/>
                <a:ea typeface="Arial" pitchFamily="34" charset="-122"/>
                <a:cs typeface="Arial" pitchFamily="34" charset="-120"/>
              </a:rPr>
              <a:t>in Seoul, Republic of Korea</a:t>
            </a:r>
            <a:endParaRPr lang="en-US" sz="1500" dirty="0"/>
          </a:p>
        </p:txBody>
      </p:sp>
      <p:sp>
        <p:nvSpPr>
          <p:cNvPr id="8" name="Text 3"/>
          <p:cNvSpPr txBox="1"/>
          <p:nvPr/>
        </p:nvSpPr>
        <p:spPr>
          <a:xfrm>
            <a:off x="6172200" y="45720"/>
            <a:ext cx="1051560" cy="219456"/>
          </a:xfrm>
          <a:prstGeom prst="rect">
            <a:avLst/>
          </a:prstGeom>
          <a:solidFill>
            <a:srgbClr val="D8432F"/>
          </a:solidFill>
          <a:ln/>
        </p:spPr>
        <p:txBody>
          <a:bodyPr wrap="square" lIns="0" tIns="0" rIns="0" bIns="0" rtlCol="0" anchor="ctr"/>
          <a:lstStyle/>
          <a:p>
            <a:pPr algn="ctr" indent="0" marL="0">
              <a:buNone/>
            </a:pPr>
            <a:r>
              <a:rPr lang="en-US" sz="750" b="1" spc="200" kern="0" dirty="0">
                <a:solidFill>
                  <a:srgbClr val="FFFFFF"/>
                </a:solidFill>
                <a:latin typeface="Arial" pitchFamily="34" charset="0"/>
                <a:ea typeface="Arial" pitchFamily="34" charset="-122"/>
                <a:cs typeface="Arial" pitchFamily="34" charset="-120"/>
              </a:rPr>
              <a:t>DRAFT · TBD</a:t>
            </a:r>
            <a:endParaRPr lang="en-US" sz="750" dirty="0"/>
          </a:p>
        </p:txBody>
      </p:sp>
      <p:sp>
        <p:nvSpPr>
          <p:cNvPr id="9" name="Text 4"/>
          <p:cNvSpPr txBox="1"/>
          <p:nvPr/>
        </p:nvSpPr>
        <p:spPr>
          <a:xfrm>
            <a:off x="429768" y="2980944"/>
            <a:ext cx="6702552" cy="1060704"/>
          </a:xfrm>
          <a:prstGeom prst="rect">
            <a:avLst/>
          </a:prstGeom>
          <a:noFill/>
          <a:ln/>
        </p:spPr>
        <p:txBody>
          <a:bodyPr wrap="square" lIns="0" tIns="0" rIns="0" bIns="0" rtlCol="0" anchor="t"/>
          <a:lstStyle/>
          <a:p>
            <a:pPr indent="0" marL="0">
              <a:lnSpc>
                <a:spcPct val="112000"/>
              </a:lnSpc>
              <a:buNone/>
            </a:pPr>
            <a:r>
              <a:rPr lang="en-US" sz="930" dirty="0">
                <a:solidFill>
                  <a:srgbClr val="2C3A7A"/>
                </a:solidFill>
                <a:latin typeface="Arial" pitchFamily="34" charset="0"/>
                <a:ea typeface="Arial" pitchFamily="34" charset="-122"/>
                <a:cs typeface="Arial" pitchFamily="34" charset="-120"/>
              </a:rPr>
              <a:t>The International Liquid Crystal Elastomer Conference (ILCEC) will be held in </a:t>
            </a:r>
            <a:pPr indent="0" marL="0">
              <a:lnSpc>
                <a:spcPct val="112000"/>
              </a:lnSpc>
              <a:buNone/>
            </a:pPr>
            <a:r>
              <a:rPr lang="en-US" sz="930" b="1" dirty="0">
                <a:solidFill>
                  <a:srgbClr val="1B2450"/>
                </a:solidFill>
                <a:latin typeface="Arial" pitchFamily="34" charset="0"/>
                <a:ea typeface="Arial" pitchFamily="34" charset="-122"/>
                <a:cs typeface="Arial" pitchFamily="34" charset="-120"/>
              </a:rPr>
              <a:t>2027 at the Royal Hotel Seoul, Myeongdong</a:t>
            </a:r>
            <a:pPr indent="0" marL="0">
              <a:lnSpc>
                <a:spcPct val="112000"/>
              </a:lnSpc>
              <a:buNone/>
            </a:pPr>
            <a:r>
              <a:rPr lang="en-US" sz="930" dirty="0">
                <a:solidFill>
                  <a:srgbClr val="2C3A7A"/>
                </a:solidFill>
                <a:latin typeface="Arial" pitchFamily="34" charset="0"/>
                <a:ea typeface="Arial" pitchFamily="34" charset="-122"/>
                <a:cs typeface="Arial" pitchFamily="34" charset="-120"/>
              </a:rPr>
              <a:t>, in the heart of Seoul, Republic of Korea. Following ILCEC 2025 in Tampere, ILCEC 2027 will bring together chemists, physicists and engineers to share fundamental advances and application opportunities for this exciting class of materials. The conference will cover, but is not limited to, dynamic and multiresponsive LCEs, soft mechanics and actuation, 4D printing, feedback-driven and autonomous motion, tunable photonics, and novel behaviour and functions of LCEs. Contributions on related stimuli-responsive soft materials are also welcome. We hope you will consider joining us in Seoul!</a:t>
            </a:r>
            <a:endParaRPr lang="en-US" sz="930" dirty="0"/>
          </a:p>
        </p:txBody>
      </p:sp>
      <p:sp>
        <p:nvSpPr>
          <p:cNvPr id="10" name="Text 5"/>
          <p:cNvSpPr txBox="1"/>
          <p:nvPr/>
        </p:nvSpPr>
        <p:spPr>
          <a:xfrm>
            <a:off x="429768" y="416052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Chairs</a:t>
            </a:r>
            <a:endParaRPr lang="en-US" sz="860" dirty="0"/>
          </a:p>
        </p:txBody>
      </p:sp>
      <p:sp>
        <p:nvSpPr>
          <p:cNvPr id="11" name="Text 6"/>
          <p:cNvSpPr txBox="1"/>
          <p:nvPr/>
        </p:nvSpPr>
        <p:spPr>
          <a:xfrm>
            <a:off x="429768" y="4361688"/>
            <a:ext cx="3218688" cy="310896"/>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[Chair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[Co-chair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endParaRPr lang="en-US" sz="760" dirty="0"/>
          </a:p>
        </p:txBody>
      </p:sp>
      <p:sp>
        <p:nvSpPr>
          <p:cNvPr id="12" name="Text 7"/>
          <p:cNvSpPr txBox="1"/>
          <p:nvPr/>
        </p:nvSpPr>
        <p:spPr>
          <a:xfrm>
            <a:off x="429768" y="4727448"/>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Organizing committee</a:t>
            </a:r>
            <a:endParaRPr lang="en-US" sz="860" dirty="0"/>
          </a:p>
        </p:txBody>
      </p:sp>
      <p:sp>
        <p:nvSpPr>
          <p:cNvPr id="13" name="Text 8"/>
          <p:cNvSpPr txBox="1"/>
          <p:nvPr/>
        </p:nvSpPr>
        <p:spPr>
          <a:xfrm>
            <a:off x="429768" y="4928616"/>
            <a:ext cx="3218688" cy="438912"/>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a:t>
            </a:r>
            <a:endParaRPr lang="en-US" sz="760" dirty="0"/>
          </a:p>
        </p:txBody>
      </p:sp>
      <p:sp>
        <p:nvSpPr>
          <p:cNvPr id="14" name="Text 9"/>
          <p:cNvSpPr txBox="1"/>
          <p:nvPr/>
        </p:nvSpPr>
        <p:spPr>
          <a:xfrm>
            <a:off x="429768" y="5422392"/>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International program committee</a:t>
            </a:r>
            <a:endParaRPr lang="en-US" sz="860" dirty="0"/>
          </a:p>
        </p:txBody>
      </p:sp>
      <p:sp>
        <p:nvSpPr>
          <p:cNvPr id="15" name="Text 10"/>
          <p:cNvSpPr txBox="1"/>
          <p:nvPr/>
        </p:nvSpPr>
        <p:spPr>
          <a:xfrm>
            <a:off x="429768" y="5623560"/>
            <a:ext cx="3218688" cy="859536"/>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[Member]</a:t>
            </a:r>
            <a:pPr indent="0" marL="0">
              <a:spcAft>
                <a:spcPts val="200"/>
              </a:spcAft>
              <a:buNone/>
            </a:pPr>
            <a:r>
              <a:rPr lang="en-US" sz="760" dirty="0">
                <a:solidFill>
                  <a:srgbClr val="262B3D"/>
                </a:solidFill>
                <a:latin typeface="Arial" pitchFamily="34" charset="0"/>
                <a:ea typeface="Arial" pitchFamily="34" charset="-122"/>
                <a:cs typeface="Arial" pitchFamily="34" charset="-120"/>
              </a:rPr>
              <a:t>, </a:t>
            </a:r>
            <a:pPr indent="0" marL="0">
              <a:spcAft>
                <a:spcPts val="200"/>
              </a:spcAft>
              <a:buNone/>
            </a:pPr>
            <a:r>
              <a:rPr lang="en-US" sz="760" b="1" dirty="0">
                <a:solidFill>
                  <a:srgbClr val="D8432F"/>
                </a:solidFill>
                <a:latin typeface="Arial" pitchFamily="34" charset="0"/>
                <a:ea typeface="Arial" pitchFamily="34" charset="-122"/>
                <a:cs typeface="Arial" pitchFamily="34" charset="-120"/>
              </a:rPr>
              <a:t>[Affiliation, Country]</a:t>
            </a:r>
            <a:endParaRPr lang="en-US" sz="760" dirty="0"/>
          </a:p>
        </p:txBody>
      </p:sp>
      <p:sp>
        <p:nvSpPr>
          <p:cNvPr id="16" name="Text 11"/>
          <p:cNvSpPr txBox="1"/>
          <p:nvPr/>
        </p:nvSpPr>
        <p:spPr>
          <a:xfrm>
            <a:off x="429768" y="653796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Contact</a:t>
            </a:r>
            <a:endParaRPr lang="en-US" sz="860" dirty="0"/>
          </a:p>
        </p:txBody>
      </p:sp>
      <p:sp>
        <p:nvSpPr>
          <p:cNvPr id="17" name="Text 12"/>
          <p:cNvSpPr txBox="1"/>
          <p:nvPr/>
        </p:nvSpPr>
        <p:spPr>
          <a:xfrm>
            <a:off x="429768" y="6739128"/>
            <a:ext cx="3218688" cy="310896"/>
          </a:xfrm>
          <a:prstGeom prst="rect">
            <a:avLst/>
          </a:prstGeom>
          <a:noFill/>
          <a:ln/>
        </p:spPr>
        <p:txBody>
          <a:bodyPr wrap="square" lIns="0" tIns="0" rIns="0" bIns="0" rtlCol="0" anchor="t"/>
          <a:lstStyle/>
          <a:p>
            <a:pPr indent="0" marL="0">
              <a:spcAft>
                <a:spcPts val="200"/>
              </a:spcAft>
              <a:buNone/>
            </a:pPr>
            <a:r>
              <a:rPr lang="en-US" sz="760" b="1" dirty="0">
                <a:solidFill>
                  <a:srgbClr val="D8432F"/>
                </a:solidFill>
                <a:latin typeface="Arial" pitchFamily="34" charset="0"/>
                <a:ea typeface="Arial" pitchFamily="34" charset="-122"/>
                <a:cs typeface="Arial" pitchFamily="34" charset="-120"/>
              </a:rPr>
              <a:t>[Coordinator name]</a:t>
            </a:r>
            <a:pPr indent="0" marL="0">
              <a:spcAft>
                <a:spcPts val="200"/>
              </a:spcAft>
              <a:buNone/>
            </a:pPr>
            <a:r>
              <a:rPr lang="en-US" sz="760" dirty="0">
                <a:solidFill>
                  <a:srgbClr val="262B3D"/>
                </a:solidFill>
                <a:latin typeface="Arial" pitchFamily="34" charset="0"/>
                <a:ea typeface="Arial" pitchFamily="34" charset="-122"/>
                <a:cs typeface="Arial" pitchFamily="34" charset="-120"/>
              </a:rPr>
              <a:t>, conference coordinator</a:t>
            </a:r>
            <a:pPr indent="0" marL="0">
              <a:spcAft>
                <a:spcPts val="200"/>
              </a:spcAft>
              <a:buNone/>
            </a:pPr>
            <a:endParaRPr lang="en-US" sz="760" dirty="0"/>
          </a:p>
          <a:p>
            <a:pPr indent="0" marL="0">
              <a:spcAft>
                <a:spcPts val="200"/>
              </a:spcAft>
              <a:buNone/>
            </a:pPr>
            <a:r>
              <a:rPr lang="en-US" sz="760" b="1" dirty="0">
                <a:solidFill>
                  <a:srgbClr val="D8432F"/>
                </a:solidFill>
                <a:latin typeface="Arial" pitchFamily="34" charset="0"/>
                <a:ea typeface="Arial" pitchFamily="34" charset="-122"/>
                <a:cs typeface="Arial" pitchFamily="34" charset="-120"/>
              </a:rPr>
              <a:t>[ilcec2027@___.ac.kr]</a:t>
            </a:r>
            <a:endParaRPr lang="en-US" sz="760" dirty="0"/>
          </a:p>
        </p:txBody>
      </p:sp>
      <p:sp>
        <p:nvSpPr>
          <p:cNvPr id="18" name="Text 13"/>
          <p:cNvSpPr txBox="1"/>
          <p:nvPr/>
        </p:nvSpPr>
        <p:spPr>
          <a:xfrm>
            <a:off x="429768" y="7104888"/>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Webpage</a:t>
            </a:r>
            <a:endParaRPr lang="en-US" sz="860" dirty="0"/>
          </a:p>
        </p:txBody>
      </p:sp>
      <p:sp>
        <p:nvSpPr>
          <p:cNvPr id="19" name="Text 14"/>
          <p:cNvSpPr txBox="1"/>
          <p:nvPr/>
        </p:nvSpPr>
        <p:spPr>
          <a:xfrm>
            <a:off x="429768" y="7306056"/>
            <a:ext cx="3218688" cy="182880"/>
          </a:xfrm>
          <a:prstGeom prst="rect">
            <a:avLst/>
          </a:prstGeom>
          <a:noFill/>
          <a:ln/>
        </p:spPr>
        <p:txBody>
          <a:bodyPr wrap="square" lIns="0" tIns="0" rIns="0" bIns="0" rtlCol="0" anchor="t"/>
          <a:lstStyle/>
          <a:p>
            <a:pPr indent="0" marL="0">
              <a:spcAft>
                <a:spcPts val="200"/>
              </a:spcAft>
              <a:buNone/>
            </a:pPr>
            <a:r>
              <a:rPr lang="en-US" sz="760" b="1" u="sng" dirty="0">
                <a:solidFill>
                  <a:srgbClr val="D8432F"/>
                </a:solidFill>
                <a:latin typeface="Arial" pitchFamily="34" charset="0"/>
                <a:ea typeface="Arial" pitchFamily="34" charset="-122"/>
                <a:cs typeface="Arial" pitchFamily="34" charset="-120"/>
              </a:rPr>
              <a:t>[https://ilcec2027.___]</a:t>
            </a:r>
            <a:endParaRPr lang="en-US" sz="760" dirty="0"/>
          </a:p>
        </p:txBody>
      </p:sp>
      <p:sp>
        <p:nvSpPr>
          <p:cNvPr id="20" name="Shape 15"/>
          <p:cNvSpPr/>
          <p:nvPr/>
        </p:nvSpPr>
        <p:spPr>
          <a:xfrm>
            <a:off x="429768" y="7818120"/>
            <a:ext cx="3218688" cy="1280160"/>
          </a:xfrm>
          <a:prstGeom prst="roundRect">
            <a:avLst>
              <a:gd name="adj" fmla="val 4286"/>
            </a:avLst>
          </a:prstGeom>
          <a:solidFill>
            <a:srgbClr val="E3E6F4"/>
          </a:solidFill>
          <a:ln w="6350">
            <a:solidFill>
              <a:srgbClr val="CFD4EA"/>
            </a:solidFill>
            <a:prstDash val="dash"/>
          </a:ln>
        </p:spPr>
      </p:sp>
      <p:sp>
        <p:nvSpPr>
          <p:cNvPr id="21" name="Text 16"/>
          <p:cNvSpPr txBox="1"/>
          <p:nvPr/>
        </p:nvSpPr>
        <p:spPr>
          <a:xfrm>
            <a:off x="502920" y="7818120"/>
            <a:ext cx="3072384" cy="1280160"/>
          </a:xfrm>
          <a:prstGeom prst="rect">
            <a:avLst/>
          </a:prstGeom>
          <a:noFill/>
          <a:ln/>
        </p:spPr>
        <p:txBody>
          <a:bodyPr wrap="square" lIns="0" tIns="0" rIns="0" bIns="0" rtlCol="0" anchor="b"/>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Bukchon Hanok Village</a:t>
            </a:r>
            <a:endParaRPr lang="en-US" sz="760" dirty="0"/>
          </a:p>
          <a:p>
            <a:pPr indent="0" marL="0">
              <a:spcAft>
                <a:spcPts val="100"/>
              </a:spcAft>
              <a:buNone/>
            </a:pPr>
            <a:r>
              <a:rPr lang="en-US" sz="640" dirty="0">
                <a:solidFill>
                  <a:srgbClr val="5B6079"/>
                </a:solidFill>
                <a:latin typeface="Arial" pitchFamily="34" charset="0"/>
                <a:ea typeface="Arial" pitchFamily="34" charset="-122"/>
                <a:cs typeface="Arial" pitchFamily="34" charset="-120"/>
              </a:rPr>
              <a:t>Traditional hanok quarter between Gyeongbokgung and Changdeokgung palaces.</a:t>
            </a:r>
            <a:endParaRPr lang="en-US" sz="760" dirty="0"/>
          </a:p>
          <a:p>
            <a:pPr indent="0" marL="0">
              <a:spcAft>
                <a:spcPts val="100"/>
              </a:spcAft>
              <a:buNone/>
            </a:pPr>
            <a:r>
              <a:rPr lang="en-US" sz="620" b="1" dirty="0">
                <a:solidFill>
                  <a:srgbClr val="D8432F"/>
                </a:solidFill>
                <a:latin typeface="Arial" pitchFamily="34" charset="0"/>
                <a:ea typeface="Arial" pitchFamily="34" charset="-122"/>
                <a:cs typeface="Arial" pitchFamily="34" charset="-120"/>
              </a:rPr>
              <a:t>Search: 북촌한옥마을</a:t>
            </a:r>
            <a:endParaRPr lang="en-US" sz="760" dirty="0"/>
          </a:p>
        </p:txBody>
      </p:sp>
      <p:sp>
        <p:nvSpPr>
          <p:cNvPr id="22" name="Text 17"/>
          <p:cNvSpPr txBox="1"/>
          <p:nvPr/>
        </p:nvSpPr>
        <p:spPr>
          <a:xfrm>
            <a:off x="502920" y="7863840"/>
            <a:ext cx="3072384" cy="164592"/>
          </a:xfrm>
          <a:prstGeom prst="rect">
            <a:avLst/>
          </a:prstGeom>
          <a:noFill/>
          <a:ln/>
        </p:spPr>
        <p:txBody>
          <a:bodyPr wrap="square" lIns="0" tIns="0" rIns="0" bIns="0" rtlCol="0" anchor="t"/>
          <a:lstStyle/>
          <a:p>
            <a:pPr indent="0" marL="0">
              <a:buNone/>
            </a:pPr>
            <a:r>
              <a:rPr lang="en-US" sz="600" i="1" dirty="0">
                <a:solidFill>
                  <a:srgbClr val="5B6079"/>
                </a:solidFill>
                <a:latin typeface="Arial" pitchFamily="34" charset="0"/>
                <a:ea typeface="Arial" pitchFamily="34" charset="-122"/>
                <a:cs typeface="Arial" pitchFamily="34" charset="-120"/>
              </a:rPr>
              <a:t>Click the picture icon to insert a photo</a:t>
            </a:r>
            <a:endParaRPr lang="en-US" sz="600" dirty="0"/>
          </a:p>
        </p:txBody>
      </p:sp>
      <p:sp>
        <p:nvSpPr>
          <p:cNvPr id="23" name="Text 18"/>
          <p:cNvSpPr txBox="1"/>
          <p:nvPr/>
        </p:nvSpPr>
        <p:spPr>
          <a:xfrm>
            <a:off x="3913632" y="416052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Venue</a:t>
            </a:r>
            <a:endParaRPr lang="en-US" sz="860" dirty="0"/>
          </a:p>
        </p:txBody>
      </p:sp>
      <p:sp>
        <p:nvSpPr>
          <p:cNvPr id="24" name="Text 19"/>
          <p:cNvSpPr txBox="1"/>
          <p:nvPr/>
        </p:nvSpPr>
        <p:spPr>
          <a:xfrm>
            <a:off x="3913632" y="4361688"/>
            <a:ext cx="3218688" cy="1097280"/>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The conference takes place at the </a:t>
            </a:r>
            <a:pPr indent="0" marL="0">
              <a:spcAft>
                <a:spcPts val="200"/>
              </a:spcAft>
              <a:buNone/>
            </a:pPr>
            <a:r>
              <a:rPr lang="en-US" sz="760" b="1" dirty="0">
                <a:solidFill>
                  <a:srgbClr val="1B2450"/>
                </a:solidFill>
                <a:latin typeface="Arial" pitchFamily="34" charset="0"/>
                <a:ea typeface="Arial" pitchFamily="34" charset="-122"/>
                <a:cs typeface="Arial" pitchFamily="34" charset="-120"/>
              </a:rPr>
              <a:t>Royal Hotel Seoul</a:t>
            </a:r>
            <a:pPr indent="0" marL="0">
              <a:spcAft>
                <a:spcPts val="200"/>
              </a:spcAft>
              <a:buNone/>
            </a:pPr>
            <a:r>
              <a:rPr lang="en-US" sz="760" dirty="0">
                <a:solidFill>
                  <a:srgbClr val="262B3D"/>
                </a:solidFill>
                <a:latin typeface="Arial" pitchFamily="34" charset="0"/>
                <a:ea typeface="Arial" pitchFamily="34" charset="-122"/>
                <a:cs typeface="Arial" pitchFamily="34" charset="-120"/>
              </a:rPr>
              <a:t> (61 Myeongdong-gil, Jung-gu) in the heart of Myeongdong, Seoul's most vibrant shopping and dining district, next to Myeongdong Cathedral and a few minutes' walk from Myeongdong and Euljiro 1-ga subway stations. Seoul is a city of 10 million where 600-year-old royal palaces and hanok villages sit beside a global hub of semiconductor, display and soft-materials research. Gyeongbokgung Palace, Bukchon Hanok Village, Namsan and the Cheonggyecheon stream are all within easy reach of the venue.</a:t>
            </a:r>
            <a:endParaRPr lang="en-US" sz="760" dirty="0"/>
          </a:p>
        </p:txBody>
      </p:sp>
      <p:sp>
        <p:nvSpPr>
          <p:cNvPr id="25" name="Text 20"/>
          <p:cNvSpPr txBox="1"/>
          <p:nvPr/>
        </p:nvSpPr>
        <p:spPr>
          <a:xfrm>
            <a:off x="3913632" y="5495544"/>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Getting there</a:t>
            </a:r>
            <a:endParaRPr lang="en-US" sz="860" dirty="0"/>
          </a:p>
        </p:txBody>
      </p:sp>
      <p:sp>
        <p:nvSpPr>
          <p:cNvPr id="26" name="Text 21"/>
          <p:cNvSpPr txBox="1"/>
          <p:nvPr/>
        </p:nvSpPr>
        <p:spPr>
          <a:xfrm>
            <a:off x="3913632" y="5696712"/>
            <a:ext cx="3218688" cy="384048"/>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Incheon International Airport (ICN) is linked to Seoul Station by the AREX express train (about 45 min); the venue is then one subway stop or a 10-minute taxi ride away.</a:t>
            </a:r>
            <a:endParaRPr lang="en-US" sz="760" dirty="0"/>
          </a:p>
        </p:txBody>
      </p:sp>
      <p:sp>
        <p:nvSpPr>
          <p:cNvPr id="27" name="Text 22"/>
          <p:cNvSpPr txBox="1"/>
          <p:nvPr/>
        </p:nvSpPr>
        <p:spPr>
          <a:xfrm>
            <a:off x="3913632" y="6099048"/>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Accommodation</a:t>
            </a:r>
            <a:endParaRPr lang="en-US" sz="860" dirty="0"/>
          </a:p>
        </p:txBody>
      </p:sp>
      <p:sp>
        <p:nvSpPr>
          <p:cNvPr id="28" name="Text 23"/>
          <p:cNvSpPr txBox="1"/>
          <p:nvPr/>
        </p:nvSpPr>
        <p:spPr>
          <a:xfrm>
            <a:off x="3913632" y="6300216"/>
            <a:ext cx="3218688" cy="502920"/>
          </a:xfrm>
          <a:prstGeom prst="rect">
            <a:avLst/>
          </a:prstGeom>
          <a:noFill/>
          <a:ln/>
        </p:spPr>
        <p:txBody>
          <a:bodyPr wrap="square" lIns="0" tIns="0" rIns="0" bIns="0" rtlCol="0" anchor="t"/>
          <a:lstStyle/>
          <a:p>
            <a:pPr indent="0" marL="0">
              <a:spcAft>
                <a:spcPts val="200"/>
              </a:spcAft>
              <a:buNone/>
            </a:pPr>
            <a:r>
              <a:rPr lang="en-US" sz="760" dirty="0">
                <a:solidFill>
                  <a:srgbClr val="262B3D"/>
                </a:solidFill>
                <a:latin typeface="Arial" pitchFamily="34" charset="0"/>
                <a:ea typeface="Arial" pitchFamily="34" charset="-122"/>
                <a:cs typeface="Arial" pitchFamily="34" charset="-120"/>
              </a:rPr>
              <a:t>A block of rooms at a conference rate will be pre-reserved at the Royal Hotel Seoul. Myeongdong offers a very wide range of hotels and guesthouses at every price level within walking distance of the venue; details will follow in the 2nd announcement.</a:t>
            </a:r>
            <a:endParaRPr lang="en-US" sz="760" dirty="0"/>
          </a:p>
        </p:txBody>
      </p:sp>
      <p:sp>
        <p:nvSpPr>
          <p:cNvPr id="29" name="Text 24"/>
          <p:cNvSpPr txBox="1"/>
          <p:nvPr/>
        </p:nvSpPr>
        <p:spPr>
          <a:xfrm>
            <a:off x="3913632" y="6812280"/>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Social program </a:t>
            </a:r>
            <a:pPr indent="0" marL="0">
              <a:buNone/>
            </a:pPr>
            <a:r>
              <a:rPr lang="en-US" sz="700" b="1" dirty="0">
                <a:solidFill>
                  <a:srgbClr val="5B6079"/>
                </a:solidFill>
                <a:latin typeface="Arial" pitchFamily="34" charset="0"/>
                <a:ea typeface="Arial" pitchFamily="34" charset="-122"/>
                <a:cs typeface="Arial" pitchFamily="34" charset="-120"/>
              </a:rPr>
              <a:t>(tentative)</a:t>
            </a:r>
            <a:endParaRPr lang="en-US" sz="860" dirty="0"/>
          </a:p>
        </p:txBody>
      </p:sp>
      <p:sp>
        <p:nvSpPr>
          <p:cNvPr id="30" name="Text 25"/>
          <p:cNvSpPr txBox="1"/>
          <p:nvPr/>
        </p:nvSpPr>
        <p:spPr>
          <a:xfrm>
            <a:off x="3913632" y="7013448"/>
            <a:ext cx="3218688" cy="1005840"/>
          </a:xfrm>
          <a:prstGeom prst="rect">
            <a:avLst/>
          </a:prstGeom>
          <a:noFill/>
          <a:ln/>
        </p:spPr>
        <p:txBody>
          <a:bodyPr wrap="square" lIns="0" tIns="0" rIns="0" bIns="0" rtlCol="0" anchor="t"/>
          <a:lstStyle/>
          <a:p>
            <a:pPr indent="0" marL="0">
              <a:spcAft>
                <a:spcPts val="100"/>
              </a:spcAft>
              <a:buNone/>
            </a:pPr>
            <a:r>
              <a:rPr lang="en-US" sz="760" b="1" dirty="0">
                <a:solidFill>
                  <a:srgbClr val="1B2450"/>
                </a:solidFill>
                <a:latin typeface="Arial" pitchFamily="34" charset="0"/>
                <a:ea typeface="Arial" pitchFamily="34" charset="-122"/>
                <a:cs typeface="Arial" pitchFamily="34" charset="-120"/>
              </a:rPr>
              <a:t>Welcome reception</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1]</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Welcome reception at the conference hotel on the first evening.</a:t>
            </a:r>
            <a:endParaRPr lang="en-US" sz="760" dirty="0"/>
          </a:p>
          <a:p>
            <a:pPr indent="0" marL="0">
              <a:spcAft>
                <a:spcPts val="100"/>
              </a:spcAft>
              <a:buNone/>
            </a:pPr>
            <a:r>
              <a:rPr lang="en-US" sz="760" b="1" dirty="0">
                <a:solidFill>
                  <a:srgbClr val="1B2450"/>
                </a:solidFill>
                <a:latin typeface="Arial" pitchFamily="34" charset="0"/>
                <a:ea typeface="Arial" pitchFamily="34" charset="-122"/>
                <a:cs typeface="Arial" pitchFamily="34" charset="-120"/>
              </a:rPr>
              <a:t>Conference dinner</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3]</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Korean banquet in the city centre with a traditional performance.</a:t>
            </a:r>
            <a:endParaRPr lang="en-US" sz="760" dirty="0"/>
          </a:p>
          <a:p>
            <a:pPr indent="0" marL="0">
              <a:spcAft>
                <a:spcPts val="100"/>
              </a:spcAft>
              <a:buNone/>
            </a:pPr>
            <a:r>
              <a:rPr lang="en-US" sz="760" b="1" dirty="0">
                <a:solidFill>
                  <a:srgbClr val="1B2450"/>
                </a:solidFill>
                <a:latin typeface="Arial" pitchFamily="34" charset="0"/>
                <a:ea typeface="Arial" pitchFamily="34" charset="-122"/>
                <a:cs typeface="Arial" pitchFamily="34" charset="-120"/>
              </a:rPr>
              <a:t>Cultural afternoon</a:t>
            </a:r>
            <a:pPr indent="0" marL="0">
              <a:spcAft>
                <a:spcPts val="100"/>
              </a:spcAft>
              <a:buNone/>
            </a:pPr>
            <a:r>
              <a:rPr lang="en-US" sz="760" dirty="0">
                <a:solidFill>
                  <a:srgbClr val="262B3D"/>
                </a:solidFill>
                <a:latin typeface="Arial" pitchFamily="34" charset="0"/>
                <a:ea typeface="Arial" pitchFamily="34" charset="-122"/>
                <a:cs typeface="Arial" pitchFamily="34" charset="-120"/>
              </a:rPr>
              <a:t> on </a:t>
            </a:r>
            <a:pPr indent="0" marL="0">
              <a:spcAft>
                <a:spcPts val="100"/>
              </a:spcAft>
              <a:buNone/>
            </a:pPr>
            <a:r>
              <a:rPr lang="en-US" sz="760" b="1" dirty="0">
                <a:solidFill>
                  <a:srgbClr val="D8432F"/>
                </a:solidFill>
                <a:latin typeface="Arial" pitchFamily="34" charset="0"/>
                <a:ea typeface="Arial" pitchFamily="34" charset="-122"/>
                <a:cs typeface="Arial" pitchFamily="34" charset="-120"/>
              </a:rPr>
              <a:t>[Day 4]</a:t>
            </a:r>
            <a:pPr indent="0" marL="0">
              <a:spcAft>
                <a:spcPts val="200"/>
              </a:spcAft>
              <a:buNone/>
            </a:pP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Gyeongbokgung Palace and Bukchon Hanok Village, or a Han River evening cruise.</a:t>
            </a:r>
            <a:endParaRPr lang="en-US" sz="760" dirty="0"/>
          </a:p>
        </p:txBody>
      </p:sp>
      <p:sp>
        <p:nvSpPr>
          <p:cNvPr id="31" name="Text 26"/>
          <p:cNvSpPr txBox="1"/>
          <p:nvPr/>
        </p:nvSpPr>
        <p:spPr>
          <a:xfrm>
            <a:off x="3913632" y="8055864"/>
            <a:ext cx="3218688" cy="201168"/>
          </a:xfrm>
          <a:prstGeom prst="rect">
            <a:avLst/>
          </a:prstGeom>
          <a:noFill/>
          <a:ln/>
        </p:spPr>
        <p:txBody>
          <a:bodyPr wrap="square" lIns="0" tIns="0" rIns="0" bIns="0" rtlCol="0" anchor="t"/>
          <a:lstStyle/>
          <a:p>
            <a:pPr indent="0" marL="0">
              <a:buNone/>
            </a:pPr>
            <a:r>
              <a:rPr lang="en-US" sz="860" b="1" dirty="0">
                <a:solidFill>
                  <a:srgbClr val="D8432F"/>
                </a:solidFill>
                <a:latin typeface="Arial" pitchFamily="34" charset="0"/>
                <a:ea typeface="Arial" pitchFamily="34" charset="-122"/>
                <a:cs typeface="Arial" pitchFamily="34" charset="-120"/>
              </a:rPr>
              <a:t>Topics</a:t>
            </a:r>
            <a:endParaRPr lang="en-US" sz="860" dirty="0"/>
          </a:p>
        </p:txBody>
      </p:sp>
      <p:sp>
        <p:nvSpPr>
          <p:cNvPr id="32" name="Text 27"/>
          <p:cNvSpPr txBox="1"/>
          <p:nvPr/>
        </p:nvSpPr>
        <p:spPr>
          <a:xfrm>
            <a:off x="3913632" y="8257032"/>
            <a:ext cx="3218688" cy="877824"/>
          </a:xfrm>
          <a:prstGeom prst="rect">
            <a:avLst/>
          </a:prstGeom>
          <a:noFill/>
          <a:ln/>
        </p:spPr>
        <p:txBody>
          <a:bodyPr wrap="square" lIns="0" tIns="0" rIns="0" bIns="0" rtlCol="0" anchor="t"/>
          <a:lstStyle/>
          <a:p>
            <a:pPr indent="0" marL="0">
              <a:spcAft>
                <a:spcPts val="100"/>
              </a:spcAft>
              <a:buNone/>
            </a:pPr>
            <a:r>
              <a:rPr lang="en-US" sz="760" dirty="0">
                <a:solidFill>
                  <a:srgbClr val="262B3D"/>
                </a:solidFill>
                <a:latin typeface="Arial" pitchFamily="34" charset="0"/>
                <a:ea typeface="Arial" pitchFamily="34" charset="-122"/>
                <a:cs typeface="Arial" pitchFamily="34" charset="-120"/>
              </a:rPr>
              <a:t>· Synthesis, alignment and processing of LCEs and LC networks</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Photo-, thermo-, electro- and magneto-actuation; soft robotics</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Soft mechanics, instabilities, defects and topology</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4D printing and microfabrication</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Feedback-driven, autonomous and self-oscillating motion</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Tunable photonics, stretchable and wearable devices</a:t>
            </a:r>
            <a:endParaRPr lang="en-US" sz="760" dirty="0"/>
          </a:p>
          <a:p>
            <a:pPr indent="0" marL="0">
              <a:spcAft>
                <a:spcPts val="100"/>
              </a:spcAft>
              <a:buNone/>
            </a:pPr>
            <a:r>
              <a:rPr lang="en-US" sz="760" dirty="0">
                <a:solidFill>
                  <a:srgbClr val="262B3D"/>
                </a:solidFill>
                <a:latin typeface="Arial" pitchFamily="34" charset="0"/>
                <a:ea typeface="Arial" pitchFamily="34" charset="-122"/>
                <a:cs typeface="Arial" pitchFamily="34" charset="-120"/>
              </a:rPr>
              <a:t>· Theory, modelling and data-driven design</a:t>
            </a:r>
            <a:endParaRPr lang="en-US" sz="760" dirty="0"/>
          </a:p>
        </p:txBody>
      </p:sp>
      <p:sp>
        <p:nvSpPr>
          <p:cNvPr id="33" name="Shape 28"/>
          <p:cNvSpPr/>
          <p:nvPr/>
        </p:nvSpPr>
        <p:spPr>
          <a:xfrm>
            <a:off x="429768" y="9253728"/>
            <a:ext cx="6702552" cy="0"/>
          </a:xfrm>
          <a:prstGeom prst="line">
            <a:avLst/>
          </a:prstGeom>
          <a:noFill/>
          <a:ln w="9525">
            <a:solidFill>
              <a:srgbClr val="CFD4EA"/>
            </a:solidFill>
            <a:prstDash val="solid"/>
          </a:ln>
        </p:spPr>
      </p:sp>
      <p:sp>
        <p:nvSpPr>
          <p:cNvPr id="34" name="Shape 29"/>
          <p:cNvSpPr/>
          <p:nvPr/>
        </p:nvSpPr>
        <p:spPr>
          <a:xfrm>
            <a:off x="429768" y="9363456"/>
            <a:ext cx="932688" cy="347472"/>
          </a:xfrm>
          <a:prstGeom prst="roundRect">
            <a:avLst>
              <a:gd name="adj" fmla="val 10526"/>
            </a:avLst>
          </a:prstGeom>
          <a:solidFill>
            <a:srgbClr val="FFFFFF"/>
          </a:solidFill>
          <a:ln w="9525">
            <a:solidFill>
              <a:srgbClr val="CFD4EA"/>
            </a:solidFill>
            <a:prstDash val="dash"/>
          </a:ln>
        </p:spPr>
      </p:sp>
      <p:sp>
        <p:nvSpPr>
          <p:cNvPr id="35" name="Text 30"/>
          <p:cNvSpPr txBox="1"/>
          <p:nvPr/>
        </p:nvSpPr>
        <p:spPr>
          <a:xfrm>
            <a:off x="429768"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Host institution logo</a:t>
            </a:r>
            <a:endParaRPr lang="en-US" sz="620" dirty="0"/>
          </a:p>
        </p:txBody>
      </p:sp>
      <p:sp>
        <p:nvSpPr>
          <p:cNvPr id="36" name="Shape 31"/>
          <p:cNvSpPr/>
          <p:nvPr/>
        </p:nvSpPr>
        <p:spPr>
          <a:xfrm>
            <a:off x="1453896" y="9363456"/>
            <a:ext cx="932688" cy="347472"/>
          </a:xfrm>
          <a:prstGeom prst="roundRect">
            <a:avLst>
              <a:gd name="adj" fmla="val 10526"/>
            </a:avLst>
          </a:prstGeom>
          <a:solidFill>
            <a:srgbClr val="FFFFFF"/>
          </a:solidFill>
          <a:ln w="9525">
            <a:solidFill>
              <a:srgbClr val="CFD4EA"/>
            </a:solidFill>
            <a:prstDash val="dash"/>
          </a:ln>
        </p:spPr>
      </p:sp>
      <p:sp>
        <p:nvSpPr>
          <p:cNvPr id="37" name="Text 32"/>
          <p:cNvSpPr txBox="1"/>
          <p:nvPr/>
        </p:nvSpPr>
        <p:spPr>
          <a:xfrm>
            <a:off x="1453896"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Society / sponsor logo</a:t>
            </a:r>
            <a:endParaRPr lang="en-US" sz="620" dirty="0"/>
          </a:p>
        </p:txBody>
      </p:sp>
      <p:sp>
        <p:nvSpPr>
          <p:cNvPr id="38" name="Shape 33"/>
          <p:cNvSpPr/>
          <p:nvPr/>
        </p:nvSpPr>
        <p:spPr>
          <a:xfrm>
            <a:off x="2478024" y="9363456"/>
            <a:ext cx="932688" cy="347472"/>
          </a:xfrm>
          <a:prstGeom prst="roundRect">
            <a:avLst>
              <a:gd name="adj" fmla="val 10526"/>
            </a:avLst>
          </a:prstGeom>
          <a:solidFill>
            <a:srgbClr val="FFFFFF"/>
          </a:solidFill>
          <a:ln w="9525">
            <a:solidFill>
              <a:srgbClr val="CFD4EA"/>
            </a:solidFill>
            <a:prstDash val="dash"/>
          </a:ln>
        </p:spPr>
      </p:sp>
      <p:sp>
        <p:nvSpPr>
          <p:cNvPr id="39" name="Text 34"/>
          <p:cNvSpPr txBox="1"/>
          <p:nvPr/>
        </p:nvSpPr>
        <p:spPr>
          <a:xfrm>
            <a:off x="2478024" y="9363456"/>
            <a:ext cx="932688" cy="347472"/>
          </a:xfrm>
          <a:prstGeom prst="rect">
            <a:avLst/>
          </a:prstGeom>
          <a:noFill/>
          <a:ln/>
        </p:spPr>
        <p:txBody>
          <a:bodyPr wrap="square" lIns="0" tIns="0" rIns="0" bIns="0" rtlCol="0" anchor="ctr"/>
          <a:lstStyle/>
          <a:p>
            <a:pPr algn="ctr" indent="0" marL="0">
              <a:buNone/>
            </a:pPr>
            <a:r>
              <a:rPr lang="en-US" sz="620" dirty="0">
                <a:solidFill>
                  <a:srgbClr val="5B6079"/>
                </a:solidFill>
                <a:latin typeface="Arial" pitchFamily="34" charset="0"/>
                <a:ea typeface="Arial" pitchFamily="34" charset="-122"/>
                <a:cs typeface="Arial" pitchFamily="34" charset="-120"/>
              </a:rPr>
              <a:t>Seoul CVB / KTO logo</a:t>
            </a:r>
            <a:endParaRPr lang="en-US" sz="620" dirty="0"/>
          </a:p>
        </p:txBody>
      </p:sp>
      <p:sp>
        <p:nvSpPr>
          <p:cNvPr id="40" name="Text 35"/>
          <p:cNvSpPr txBox="1"/>
          <p:nvPr/>
        </p:nvSpPr>
        <p:spPr>
          <a:xfrm>
            <a:off x="3931920" y="9326880"/>
            <a:ext cx="3200400" cy="420624"/>
          </a:xfrm>
          <a:prstGeom prst="rect">
            <a:avLst/>
          </a:prstGeom>
          <a:noFill/>
          <a:ln/>
        </p:spPr>
        <p:txBody>
          <a:bodyPr wrap="square" lIns="0" tIns="0" rIns="0" bIns="0" rtlCol="0" anchor="ctr"/>
          <a:lstStyle/>
          <a:p>
            <a:pPr algn="r" indent="0" marL="0">
              <a:buNone/>
            </a:pPr>
            <a:r>
              <a:rPr lang="en-US" sz="610" b="1" dirty="0">
                <a:solidFill>
                  <a:srgbClr val="2C3A7A"/>
                </a:solidFill>
                <a:latin typeface="Arial" pitchFamily="34" charset="0"/>
                <a:ea typeface="Arial" pitchFamily="34" charset="-122"/>
                <a:cs typeface="Arial" pitchFamily="34" charset="-120"/>
              </a:rPr>
              <a:t>Photo credits: </a:t>
            </a:r>
            <a:pPr algn="r" indent="0" marL="0">
              <a:buNone/>
            </a:pPr>
            <a:r>
              <a:rPr lang="en-US" sz="610" dirty="0">
                <a:solidFill>
                  <a:srgbClr val="5B6079"/>
                </a:solidFill>
                <a:latin typeface="Arial" pitchFamily="34" charset="0"/>
                <a:ea typeface="Arial" pitchFamily="34" charset="-122"/>
                <a:cs typeface="Arial" pitchFamily="34" charset="-120"/>
              </a:rPr>
              <a:t>© Korea Tourism Organization Photo Korea – photographer name (fill in when images are inserted).</a:t>
            </a:r>
            <a:endParaRPr lang="en-US" sz="610" dirty="0"/>
          </a:p>
          <a:p>
            <a:pPr algn="r" indent="0" marL="0">
              <a:buNone/>
            </a:pPr>
            <a:r>
              <a:rPr lang="en-US" sz="610" dirty="0">
                <a:solidFill>
                  <a:srgbClr val="5B6079"/>
                </a:solidFill>
                <a:latin typeface="Arial" pitchFamily="34" charset="0"/>
                <a:ea typeface="Arial" pitchFamily="34" charset="-122"/>
                <a:cs typeface="Arial" pitchFamily="34" charset="-120"/>
              </a:rPr>
              <a:t>Skyline illustration: ILCEC 2027 organizing committee.</a:t>
            </a:r>
            <a:endParaRPr lang="en-US" sz="610" dirty="0"/>
          </a:p>
        </p:txBody>
      </p:sp>
      <p:sp>
        <p:nvSpPr>
          <p:cNvPr id="42" name="Text 0"/>
          <p:cNvSpPr/>
          <p:nvPr>
            <p:ph type="pic" idx="101" hasCustomPrompt="1"/>
          </p:nvPr>
        </p:nvSpPr>
        <p:spPr>
          <a:xfrm>
            <a:off x="429768" y="7818120"/>
            <a:ext cx="3218688" cy="1280160"/>
          </a:xfrm>
          <a:prstGeom prst="rect">
            <a:avLst/>
          </a:prstGeom>
          <a:noFill/>
          <a:ln/>
        </p:spPr>
        <p:txBody>
          <a:bodyPr wrap="square" rtlCol="0"/>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ILCEC 2027 First Announcement (draft)</dc:title>
  <dc:subject>PptxGenJS Presentation</dc:subject>
  <dc:creator>ILCEC 2027 Organizing Committee</dc:creator>
  <cp:lastModifiedBy>ILCEC 2027 Organizing Committee</cp:lastModifiedBy>
  <cp:revision>1</cp:revision>
  <dcterms:created xsi:type="dcterms:W3CDTF">2026-09-21T06:14:09Z</dcterms:created>
  <dcterms:modified xsi:type="dcterms:W3CDTF">2026-09-21T06:14:09Z</dcterms:modified>
</cp:coreProperties>
</file>